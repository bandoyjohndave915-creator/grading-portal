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B000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4920"/>
            <a:ext cx="9144000" cy="64008"/>
          </a:xfrm>
          <a:prstGeom prst="rect">
            <a:avLst/>
          </a:prstGeom>
          <a:solidFill>
            <a:srgbClr val="9B1D28"/>
          </a:solidFill>
          <a:ln w="12700">
            <a:solidFill>
              <a:srgbClr val="9B1D28"/>
            </a:solidFill>
            <a:prstDash val="solid"/>
          </a:ln>
        </p:spPr>
      </p:sp>
      <p:sp>
        <p:nvSpPr>
          <p:cNvPr id="4" name="Text 2"/>
          <p:cNvSpPr/>
          <p:nvPr/>
        </p:nvSpPr>
        <p:spPr>
          <a:xfrm>
            <a:off x="457200" y="685800"/>
            <a:ext cx="8229600" cy="365760"/>
          </a:xfrm>
          <a:prstGeom prst="rect">
            <a:avLst/>
          </a:prstGeom>
          <a:noFill/>
        </p:spPr>
        <p:txBody>
          <a:bodyPr wrap="square" rtlCol="0" anchor="ctr"/>
          <a:lstStyle/>
          <a:p>
            <a:pPr marL="0" indent="0" algn="ctr">
              <a:buNone/>
            </a:pPr>
            <a:r>
              <a:rPr lang="en-US" sz="1400" dirty="0">
                <a:solidFill>
                  <a:srgbClr val="C9A84C"/>
                </a:solidFill>
                <a:latin typeface="Calibri" panose="020F0502020204030204" pitchFamily="34" charset="0"/>
                <a:ea typeface="Calibri" panose="020F0502020204030204" pitchFamily="34" charset="-122"/>
                <a:cs typeface="Calibri" panose="020F0502020204030204" pitchFamily="34" charset="-120"/>
              </a:rPr>
              <a:t>Bunawan Aplaya Elementary School</a:t>
            </a:r>
            <a:endParaRPr lang="en-US" sz="1400" dirty="0"/>
          </a:p>
        </p:txBody>
      </p:sp>
      <p:sp>
        <p:nvSpPr>
          <p:cNvPr id="5" name="Text 3"/>
          <p:cNvSpPr/>
          <p:nvPr/>
        </p:nvSpPr>
        <p:spPr>
          <a:xfrm>
            <a:off x="457200" y="1143000"/>
            <a:ext cx="8229600" cy="1097280"/>
          </a:xfrm>
          <a:prstGeom prst="rect">
            <a:avLst/>
          </a:prstGeom>
          <a:noFill/>
        </p:spPr>
        <p:txBody>
          <a:bodyPr wrap="square" rtlCol="0" anchor="ctr"/>
          <a:lstStyle/>
          <a:p>
            <a:pPr marL="0" indent="0" algn="ctr">
              <a:buNone/>
            </a:pPr>
            <a:r>
              <a:rPr lang="en-US" sz="4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Academic Grading Platform</a:t>
            </a:r>
            <a:endParaRPr lang="en-US" sz="4200" dirty="0"/>
          </a:p>
        </p:txBody>
      </p:sp>
      <p:sp>
        <p:nvSpPr>
          <p:cNvPr id="6" name="Text 4"/>
          <p:cNvSpPr/>
          <p:nvPr/>
        </p:nvSpPr>
        <p:spPr>
          <a:xfrm>
            <a:off x="457200" y="2331720"/>
            <a:ext cx="8229600" cy="457200"/>
          </a:xfrm>
          <a:prstGeom prst="rect">
            <a:avLst/>
          </a:prstGeom>
          <a:noFill/>
        </p:spPr>
        <p:txBody>
          <a:bodyPr wrap="square" rtlCol="0" anchor="ctr"/>
          <a:lstStyle/>
          <a:p>
            <a:pPr marL="0" indent="0" algn="ctr">
              <a:buNone/>
            </a:pPr>
            <a:r>
              <a:rPr lang="en-US" sz="1800" dirty="0">
                <a:solidFill>
                  <a:srgbClr val="F2D9DB"/>
                </a:solidFill>
                <a:latin typeface="Calibri" panose="020F0502020204030204" pitchFamily="34" charset="0"/>
                <a:ea typeface="Calibri" panose="020F0502020204030204" pitchFamily="34" charset="-122"/>
                <a:cs typeface="Calibri" panose="020F0502020204030204" pitchFamily="34" charset="-120"/>
              </a:rPr>
              <a:t>A Web-Based Grade Portal for Teachers &amp; Parents</a:t>
            </a:r>
            <a:endParaRPr lang="en-US" sz="1800" dirty="0"/>
          </a:p>
        </p:txBody>
      </p:sp>
      <p:sp>
        <p:nvSpPr>
          <p:cNvPr id="7" name="Shape 5"/>
          <p:cNvSpPr/>
          <p:nvPr/>
        </p:nvSpPr>
        <p:spPr>
          <a:xfrm>
            <a:off x="3200400" y="2926080"/>
            <a:ext cx="2743200" cy="45720"/>
          </a:xfrm>
          <a:prstGeom prst="rect">
            <a:avLst/>
          </a:prstGeom>
          <a:solidFill>
            <a:srgbClr val="C9A84C"/>
          </a:solidFill>
          <a:ln w="12700">
            <a:solidFill>
              <a:srgbClr val="C9A84C"/>
            </a:solidFill>
            <a:prstDash val="solid"/>
          </a:ln>
        </p:spPr>
      </p:sp>
      <p:sp>
        <p:nvSpPr>
          <p:cNvPr id="8" name="Text 6"/>
          <p:cNvSpPr/>
          <p:nvPr/>
        </p:nvSpPr>
        <p:spPr>
          <a:xfrm>
            <a:off x="457200" y="3154680"/>
            <a:ext cx="8229600" cy="731520"/>
          </a:xfrm>
          <a:prstGeom prst="rect">
            <a:avLst/>
          </a:prstGeom>
          <a:noFill/>
        </p:spPr>
        <p:txBody>
          <a:bodyPr wrap="square" rtlCol="0" anchor="ctr"/>
          <a:lstStyle/>
          <a:p>
            <a:pPr marL="0" indent="0" algn="ctr">
              <a:buNone/>
            </a:pPr>
            <a:r>
              <a:rPr lang="en-US" sz="1200" dirty="0">
                <a:solidFill>
                  <a:srgbClr val="A87070"/>
                </a:solidFill>
                <a:latin typeface="Calibri" panose="020F0502020204030204" pitchFamily="34" charset="0"/>
                <a:ea typeface="Calibri" panose="020F0502020204030204" pitchFamily="34" charset="-122"/>
                <a:cs typeface="Calibri" panose="020F0502020204030204" pitchFamily="34" charset="-120"/>
              </a:rPr>
              <a:t>John Dave Bansag   •   Don Joshua Bongabong   •   Edmond Ambulario</a:t>
            </a:r>
            <a:endParaRPr lang="en-US" sz="1200" dirty="0"/>
          </a:p>
          <a:p>
            <a:pPr marL="0" indent="0" algn="ctr">
              <a:buNone/>
            </a:pPr>
            <a:r>
              <a:rPr lang="en-US" sz="1200" dirty="0">
                <a:solidFill>
                  <a:srgbClr val="A87070"/>
                </a:solidFill>
                <a:latin typeface="Calibri" panose="020F0502020204030204" pitchFamily="34" charset="0"/>
                <a:ea typeface="Calibri" panose="020F0502020204030204" pitchFamily="34" charset="-122"/>
                <a:cs typeface="Calibri" panose="020F0502020204030204" pitchFamily="34" charset="-120"/>
              </a:rPr>
              <a:t>Diploma in Information Technology  |  Philippine College of Technology Inc.  |  S.Y.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B0F1A"/>
          </a:solidFill>
          <a:ln w="12700">
            <a:solidFill>
              <a:srgbClr val="6B0F1A"/>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Presentation Outline</a:t>
            </a:r>
            <a:endParaRPr lang="en-US" sz="2800" dirty="0"/>
          </a:p>
        </p:txBody>
      </p:sp>
      <p:sp>
        <p:nvSpPr>
          <p:cNvPr id="4" name="Shape 2"/>
          <p:cNvSpPr/>
          <p:nvPr/>
        </p:nvSpPr>
        <p:spPr>
          <a:xfrm>
            <a:off x="320040" y="914400"/>
            <a:ext cx="4160520" cy="548640"/>
          </a:xfrm>
          <a:prstGeom prst="rect">
            <a:avLst/>
          </a:prstGeom>
          <a:solidFill>
            <a:srgbClr val="FFFFFF"/>
          </a:solidFill>
          <a:ln w="6350">
            <a:solidFill>
              <a:srgbClr val="E8C5C8"/>
            </a:solidFill>
            <a:prstDash val="solid"/>
          </a:ln>
        </p:spPr>
      </p:sp>
      <p:sp>
        <p:nvSpPr>
          <p:cNvPr id="5" name="Shape 3"/>
          <p:cNvSpPr/>
          <p:nvPr/>
        </p:nvSpPr>
        <p:spPr>
          <a:xfrm>
            <a:off x="320040" y="914400"/>
            <a:ext cx="502920" cy="548640"/>
          </a:xfrm>
          <a:prstGeom prst="rect">
            <a:avLst/>
          </a:prstGeom>
          <a:solidFill>
            <a:srgbClr val="6B0F1A"/>
          </a:solidFill>
          <a:ln w="12700">
            <a:solidFill>
              <a:srgbClr val="6B0F1A"/>
            </a:solidFill>
            <a:prstDash val="solid"/>
          </a:ln>
        </p:spPr>
      </p:sp>
      <p:sp>
        <p:nvSpPr>
          <p:cNvPr id="6" name="Text 4"/>
          <p:cNvSpPr/>
          <p:nvPr/>
        </p:nvSpPr>
        <p:spPr>
          <a:xfrm>
            <a:off x="320040" y="1005840"/>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01</a:t>
            </a:r>
            <a:endParaRPr lang="en-US" sz="1200" dirty="0"/>
          </a:p>
        </p:txBody>
      </p:sp>
      <p:sp>
        <p:nvSpPr>
          <p:cNvPr id="7" name="Text 5"/>
          <p:cNvSpPr/>
          <p:nvPr/>
        </p:nvSpPr>
        <p:spPr>
          <a:xfrm>
            <a:off x="914400" y="1024128"/>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Introduction &amp; Project Context</a:t>
            </a:r>
            <a:endParaRPr lang="en-US" sz="1200" dirty="0"/>
          </a:p>
        </p:txBody>
      </p:sp>
      <p:sp>
        <p:nvSpPr>
          <p:cNvPr id="8" name="Shape 6"/>
          <p:cNvSpPr/>
          <p:nvPr/>
        </p:nvSpPr>
        <p:spPr>
          <a:xfrm>
            <a:off x="320040" y="1581912"/>
            <a:ext cx="4160520" cy="548640"/>
          </a:xfrm>
          <a:prstGeom prst="rect">
            <a:avLst/>
          </a:prstGeom>
          <a:solidFill>
            <a:srgbClr val="FAF0F1"/>
          </a:solidFill>
          <a:ln w="6350">
            <a:solidFill>
              <a:srgbClr val="E8C5C8"/>
            </a:solidFill>
            <a:prstDash val="solid"/>
          </a:ln>
        </p:spPr>
      </p:sp>
      <p:sp>
        <p:nvSpPr>
          <p:cNvPr id="9" name="Shape 7"/>
          <p:cNvSpPr/>
          <p:nvPr/>
        </p:nvSpPr>
        <p:spPr>
          <a:xfrm>
            <a:off x="320040" y="1581912"/>
            <a:ext cx="502920" cy="548640"/>
          </a:xfrm>
          <a:prstGeom prst="rect">
            <a:avLst/>
          </a:prstGeom>
          <a:solidFill>
            <a:srgbClr val="6B0F1A"/>
          </a:solidFill>
          <a:ln w="12700">
            <a:solidFill>
              <a:srgbClr val="6B0F1A"/>
            </a:solidFill>
            <a:prstDash val="solid"/>
          </a:ln>
        </p:spPr>
      </p:sp>
      <p:sp>
        <p:nvSpPr>
          <p:cNvPr id="10" name="Text 8"/>
          <p:cNvSpPr/>
          <p:nvPr/>
        </p:nvSpPr>
        <p:spPr>
          <a:xfrm>
            <a:off x="320040" y="1673352"/>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02</a:t>
            </a:r>
            <a:endParaRPr lang="en-US" sz="1200" dirty="0"/>
          </a:p>
        </p:txBody>
      </p:sp>
      <p:sp>
        <p:nvSpPr>
          <p:cNvPr id="11" name="Text 9"/>
          <p:cNvSpPr/>
          <p:nvPr/>
        </p:nvSpPr>
        <p:spPr>
          <a:xfrm>
            <a:off x="914400" y="1691640"/>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Purpose &amp; Description</a:t>
            </a:r>
            <a:endParaRPr lang="en-US" sz="1200" dirty="0"/>
          </a:p>
        </p:txBody>
      </p:sp>
      <p:sp>
        <p:nvSpPr>
          <p:cNvPr id="12" name="Shape 10"/>
          <p:cNvSpPr/>
          <p:nvPr/>
        </p:nvSpPr>
        <p:spPr>
          <a:xfrm>
            <a:off x="320040" y="2249424"/>
            <a:ext cx="4160520" cy="548640"/>
          </a:xfrm>
          <a:prstGeom prst="rect">
            <a:avLst/>
          </a:prstGeom>
          <a:solidFill>
            <a:srgbClr val="FFFFFF"/>
          </a:solidFill>
          <a:ln w="6350">
            <a:solidFill>
              <a:srgbClr val="E8C5C8"/>
            </a:solidFill>
            <a:prstDash val="solid"/>
          </a:ln>
        </p:spPr>
      </p:sp>
      <p:sp>
        <p:nvSpPr>
          <p:cNvPr id="13" name="Shape 11"/>
          <p:cNvSpPr/>
          <p:nvPr/>
        </p:nvSpPr>
        <p:spPr>
          <a:xfrm>
            <a:off x="320040" y="2249424"/>
            <a:ext cx="502920" cy="548640"/>
          </a:xfrm>
          <a:prstGeom prst="rect">
            <a:avLst/>
          </a:prstGeom>
          <a:solidFill>
            <a:srgbClr val="6B0F1A"/>
          </a:solidFill>
          <a:ln w="12700">
            <a:solidFill>
              <a:srgbClr val="6B0F1A"/>
            </a:solidFill>
            <a:prstDash val="solid"/>
          </a:ln>
        </p:spPr>
      </p:sp>
      <p:sp>
        <p:nvSpPr>
          <p:cNvPr id="14" name="Text 12"/>
          <p:cNvSpPr/>
          <p:nvPr/>
        </p:nvSpPr>
        <p:spPr>
          <a:xfrm>
            <a:off x="320040" y="2340864"/>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03</a:t>
            </a:r>
            <a:endParaRPr lang="en-US" sz="1200" dirty="0"/>
          </a:p>
        </p:txBody>
      </p:sp>
      <p:sp>
        <p:nvSpPr>
          <p:cNvPr id="15" name="Text 13"/>
          <p:cNvSpPr/>
          <p:nvPr/>
        </p:nvSpPr>
        <p:spPr>
          <a:xfrm>
            <a:off x="914400" y="2359152"/>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Objectives</a:t>
            </a:r>
            <a:endParaRPr lang="en-US" sz="1200" dirty="0"/>
          </a:p>
        </p:txBody>
      </p:sp>
      <p:sp>
        <p:nvSpPr>
          <p:cNvPr id="16" name="Shape 14"/>
          <p:cNvSpPr/>
          <p:nvPr/>
        </p:nvSpPr>
        <p:spPr>
          <a:xfrm>
            <a:off x="320040" y="2916936"/>
            <a:ext cx="4160520" cy="548640"/>
          </a:xfrm>
          <a:prstGeom prst="rect">
            <a:avLst/>
          </a:prstGeom>
          <a:solidFill>
            <a:srgbClr val="FAF0F1"/>
          </a:solidFill>
          <a:ln w="6350">
            <a:solidFill>
              <a:srgbClr val="E8C5C8"/>
            </a:solidFill>
            <a:prstDash val="solid"/>
          </a:ln>
        </p:spPr>
      </p:sp>
      <p:sp>
        <p:nvSpPr>
          <p:cNvPr id="17" name="Shape 15"/>
          <p:cNvSpPr/>
          <p:nvPr/>
        </p:nvSpPr>
        <p:spPr>
          <a:xfrm>
            <a:off x="320040" y="2916936"/>
            <a:ext cx="502920" cy="548640"/>
          </a:xfrm>
          <a:prstGeom prst="rect">
            <a:avLst/>
          </a:prstGeom>
          <a:solidFill>
            <a:srgbClr val="6B0F1A"/>
          </a:solidFill>
          <a:ln w="12700">
            <a:solidFill>
              <a:srgbClr val="6B0F1A"/>
            </a:solidFill>
            <a:prstDash val="solid"/>
          </a:ln>
        </p:spPr>
      </p:sp>
      <p:sp>
        <p:nvSpPr>
          <p:cNvPr id="18" name="Text 16"/>
          <p:cNvSpPr/>
          <p:nvPr/>
        </p:nvSpPr>
        <p:spPr>
          <a:xfrm>
            <a:off x="320040" y="3008376"/>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04</a:t>
            </a:r>
            <a:endParaRPr lang="en-US" sz="1200" dirty="0"/>
          </a:p>
        </p:txBody>
      </p:sp>
      <p:sp>
        <p:nvSpPr>
          <p:cNvPr id="19" name="Text 17"/>
          <p:cNvSpPr/>
          <p:nvPr/>
        </p:nvSpPr>
        <p:spPr>
          <a:xfrm>
            <a:off x="914400" y="3026664"/>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Scope &amp; Limitations</a:t>
            </a:r>
            <a:endParaRPr lang="en-US" sz="1200" dirty="0"/>
          </a:p>
        </p:txBody>
      </p:sp>
      <p:sp>
        <p:nvSpPr>
          <p:cNvPr id="20" name="Shape 18"/>
          <p:cNvSpPr/>
          <p:nvPr/>
        </p:nvSpPr>
        <p:spPr>
          <a:xfrm>
            <a:off x="320040" y="3584448"/>
            <a:ext cx="4160520" cy="548640"/>
          </a:xfrm>
          <a:prstGeom prst="rect">
            <a:avLst/>
          </a:prstGeom>
          <a:solidFill>
            <a:srgbClr val="FFFFFF"/>
          </a:solidFill>
          <a:ln w="6350">
            <a:solidFill>
              <a:srgbClr val="E8C5C8"/>
            </a:solidFill>
            <a:prstDash val="solid"/>
          </a:ln>
        </p:spPr>
      </p:sp>
      <p:sp>
        <p:nvSpPr>
          <p:cNvPr id="21" name="Shape 19"/>
          <p:cNvSpPr/>
          <p:nvPr/>
        </p:nvSpPr>
        <p:spPr>
          <a:xfrm>
            <a:off x="320040" y="3584448"/>
            <a:ext cx="502920" cy="548640"/>
          </a:xfrm>
          <a:prstGeom prst="rect">
            <a:avLst/>
          </a:prstGeom>
          <a:solidFill>
            <a:srgbClr val="6B0F1A"/>
          </a:solidFill>
          <a:ln w="12700">
            <a:solidFill>
              <a:srgbClr val="6B0F1A"/>
            </a:solidFill>
            <a:prstDash val="solid"/>
          </a:ln>
        </p:spPr>
      </p:sp>
      <p:sp>
        <p:nvSpPr>
          <p:cNvPr id="22" name="Text 20"/>
          <p:cNvSpPr/>
          <p:nvPr/>
        </p:nvSpPr>
        <p:spPr>
          <a:xfrm>
            <a:off x="320040" y="3675888"/>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05</a:t>
            </a:r>
            <a:endParaRPr lang="en-US" sz="1200" dirty="0"/>
          </a:p>
        </p:txBody>
      </p:sp>
      <p:sp>
        <p:nvSpPr>
          <p:cNvPr id="23" name="Text 21"/>
          <p:cNvSpPr/>
          <p:nvPr/>
        </p:nvSpPr>
        <p:spPr>
          <a:xfrm>
            <a:off x="914400" y="3694176"/>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Review of Related Literature</a:t>
            </a:r>
            <a:endParaRPr lang="en-US" sz="1200" dirty="0"/>
          </a:p>
        </p:txBody>
      </p:sp>
      <p:sp>
        <p:nvSpPr>
          <p:cNvPr id="24" name="Shape 22"/>
          <p:cNvSpPr/>
          <p:nvPr/>
        </p:nvSpPr>
        <p:spPr>
          <a:xfrm>
            <a:off x="320040" y="4251960"/>
            <a:ext cx="4160520" cy="548640"/>
          </a:xfrm>
          <a:prstGeom prst="rect">
            <a:avLst/>
          </a:prstGeom>
          <a:solidFill>
            <a:srgbClr val="FAF0F1"/>
          </a:solidFill>
          <a:ln w="6350">
            <a:solidFill>
              <a:srgbClr val="E8C5C8"/>
            </a:solidFill>
            <a:prstDash val="solid"/>
          </a:ln>
        </p:spPr>
      </p:sp>
      <p:sp>
        <p:nvSpPr>
          <p:cNvPr id="25" name="Shape 23"/>
          <p:cNvSpPr/>
          <p:nvPr/>
        </p:nvSpPr>
        <p:spPr>
          <a:xfrm>
            <a:off x="320040" y="4251960"/>
            <a:ext cx="502920" cy="548640"/>
          </a:xfrm>
          <a:prstGeom prst="rect">
            <a:avLst/>
          </a:prstGeom>
          <a:solidFill>
            <a:srgbClr val="6B0F1A"/>
          </a:solidFill>
          <a:ln w="12700">
            <a:solidFill>
              <a:srgbClr val="6B0F1A"/>
            </a:solidFill>
            <a:prstDash val="solid"/>
          </a:ln>
        </p:spPr>
      </p:sp>
      <p:sp>
        <p:nvSpPr>
          <p:cNvPr id="26" name="Text 24"/>
          <p:cNvSpPr/>
          <p:nvPr/>
        </p:nvSpPr>
        <p:spPr>
          <a:xfrm>
            <a:off x="320040" y="4343400"/>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06</a:t>
            </a:r>
            <a:endParaRPr lang="en-US" sz="1200" dirty="0"/>
          </a:p>
        </p:txBody>
      </p:sp>
      <p:sp>
        <p:nvSpPr>
          <p:cNvPr id="27" name="Text 25"/>
          <p:cNvSpPr/>
          <p:nvPr/>
        </p:nvSpPr>
        <p:spPr>
          <a:xfrm>
            <a:off x="914400" y="4361688"/>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Research Design &amp; Methodology</a:t>
            </a:r>
            <a:endParaRPr lang="en-US" sz="1200" dirty="0"/>
          </a:p>
        </p:txBody>
      </p:sp>
      <p:sp>
        <p:nvSpPr>
          <p:cNvPr id="28" name="Shape 26"/>
          <p:cNvSpPr/>
          <p:nvPr/>
        </p:nvSpPr>
        <p:spPr>
          <a:xfrm>
            <a:off x="4754880" y="914400"/>
            <a:ext cx="4160520" cy="548640"/>
          </a:xfrm>
          <a:prstGeom prst="rect">
            <a:avLst/>
          </a:prstGeom>
          <a:solidFill>
            <a:srgbClr val="FFFFFF"/>
          </a:solidFill>
          <a:ln w="6350">
            <a:solidFill>
              <a:srgbClr val="E8C5C8"/>
            </a:solidFill>
            <a:prstDash val="solid"/>
          </a:ln>
        </p:spPr>
      </p:sp>
      <p:sp>
        <p:nvSpPr>
          <p:cNvPr id="29" name="Shape 27"/>
          <p:cNvSpPr/>
          <p:nvPr/>
        </p:nvSpPr>
        <p:spPr>
          <a:xfrm>
            <a:off x="4754880" y="914400"/>
            <a:ext cx="502920" cy="548640"/>
          </a:xfrm>
          <a:prstGeom prst="rect">
            <a:avLst/>
          </a:prstGeom>
          <a:solidFill>
            <a:srgbClr val="6B0F1A"/>
          </a:solidFill>
          <a:ln w="12700">
            <a:solidFill>
              <a:srgbClr val="6B0F1A"/>
            </a:solidFill>
            <a:prstDash val="solid"/>
          </a:ln>
        </p:spPr>
      </p:sp>
      <p:sp>
        <p:nvSpPr>
          <p:cNvPr id="30" name="Text 28"/>
          <p:cNvSpPr/>
          <p:nvPr/>
        </p:nvSpPr>
        <p:spPr>
          <a:xfrm>
            <a:off x="4754880" y="1005840"/>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07</a:t>
            </a:r>
            <a:endParaRPr lang="en-US" sz="1200" dirty="0"/>
          </a:p>
        </p:txBody>
      </p:sp>
      <p:sp>
        <p:nvSpPr>
          <p:cNvPr id="31" name="Text 29"/>
          <p:cNvSpPr/>
          <p:nvPr/>
        </p:nvSpPr>
        <p:spPr>
          <a:xfrm>
            <a:off x="5349240" y="1024128"/>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Technology Stack</a:t>
            </a:r>
            <a:endParaRPr lang="en-US" sz="1200" dirty="0"/>
          </a:p>
        </p:txBody>
      </p:sp>
      <p:sp>
        <p:nvSpPr>
          <p:cNvPr id="32" name="Shape 30"/>
          <p:cNvSpPr/>
          <p:nvPr/>
        </p:nvSpPr>
        <p:spPr>
          <a:xfrm>
            <a:off x="4754880" y="1581912"/>
            <a:ext cx="4160520" cy="548640"/>
          </a:xfrm>
          <a:prstGeom prst="rect">
            <a:avLst/>
          </a:prstGeom>
          <a:solidFill>
            <a:srgbClr val="FAF0F1"/>
          </a:solidFill>
          <a:ln w="6350">
            <a:solidFill>
              <a:srgbClr val="E8C5C8"/>
            </a:solidFill>
            <a:prstDash val="solid"/>
          </a:ln>
        </p:spPr>
      </p:sp>
      <p:sp>
        <p:nvSpPr>
          <p:cNvPr id="33" name="Shape 31"/>
          <p:cNvSpPr/>
          <p:nvPr/>
        </p:nvSpPr>
        <p:spPr>
          <a:xfrm>
            <a:off x="4754880" y="1581912"/>
            <a:ext cx="502920" cy="548640"/>
          </a:xfrm>
          <a:prstGeom prst="rect">
            <a:avLst/>
          </a:prstGeom>
          <a:solidFill>
            <a:srgbClr val="6B0F1A"/>
          </a:solidFill>
          <a:ln w="12700">
            <a:solidFill>
              <a:srgbClr val="6B0F1A"/>
            </a:solidFill>
            <a:prstDash val="solid"/>
          </a:ln>
        </p:spPr>
      </p:sp>
      <p:sp>
        <p:nvSpPr>
          <p:cNvPr id="34" name="Text 32"/>
          <p:cNvSpPr/>
          <p:nvPr/>
        </p:nvSpPr>
        <p:spPr>
          <a:xfrm>
            <a:off x="4754880" y="1673352"/>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08</a:t>
            </a:r>
            <a:endParaRPr lang="en-US" sz="1200" dirty="0"/>
          </a:p>
        </p:txBody>
      </p:sp>
      <p:sp>
        <p:nvSpPr>
          <p:cNvPr id="35" name="Text 33"/>
          <p:cNvSpPr/>
          <p:nvPr/>
        </p:nvSpPr>
        <p:spPr>
          <a:xfrm>
            <a:off x="5349240" y="1691640"/>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200" dirty="0"/>
          </a:p>
        </p:txBody>
      </p:sp>
      <p:sp>
        <p:nvSpPr>
          <p:cNvPr id="36" name="Shape 34"/>
          <p:cNvSpPr/>
          <p:nvPr/>
        </p:nvSpPr>
        <p:spPr>
          <a:xfrm>
            <a:off x="4754880" y="2249424"/>
            <a:ext cx="4160520" cy="548640"/>
          </a:xfrm>
          <a:prstGeom prst="rect">
            <a:avLst/>
          </a:prstGeom>
          <a:solidFill>
            <a:srgbClr val="FFFFFF"/>
          </a:solidFill>
          <a:ln w="6350">
            <a:solidFill>
              <a:srgbClr val="E8C5C8"/>
            </a:solidFill>
            <a:prstDash val="solid"/>
          </a:ln>
        </p:spPr>
      </p:sp>
      <p:sp>
        <p:nvSpPr>
          <p:cNvPr id="37" name="Shape 35"/>
          <p:cNvSpPr/>
          <p:nvPr/>
        </p:nvSpPr>
        <p:spPr>
          <a:xfrm>
            <a:off x="4754880" y="2249424"/>
            <a:ext cx="502920" cy="548640"/>
          </a:xfrm>
          <a:prstGeom prst="rect">
            <a:avLst/>
          </a:prstGeom>
          <a:solidFill>
            <a:srgbClr val="6B0F1A"/>
          </a:solidFill>
          <a:ln w="12700">
            <a:solidFill>
              <a:srgbClr val="6B0F1A"/>
            </a:solidFill>
            <a:prstDash val="solid"/>
          </a:ln>
        </p:spPr>
      </p:sp>
      <p:sp>
        <p:nvSpPr>
          <p:cNvPr id="38" name="Text 36"/>
          <p:cNvSpPr/>
          <p:nvPr/>
        </p:nvSpPr>
        <p:spPr>
          <a:xfrm>
            <a:off x="4754880" y="2340864"/>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09</a:t>
            </a:r>
            <a:endParaRPr lang="en-US" sz="1200" dirty="0"/>
          </a:p>
        </p:txBody>
      </p:sp>
      <p:sp>
        <p:nvSpPr>
          <p:cNvPr id="39" name="Text 37"/>
          <p:cNvSpPr/>
          <p:nvPr/>
        </p:nvSpPr>
        <p:spPr>
          <a:xfrm>
            <a:off x="5349240" y="2359152"/>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Data Flow Diagram</a:t>
            </a:r>
            <a:endParaRPr lang="en-US" sz="1200" dirty="0"/>
          </a:p>
        </p:txBody>
      </p:sp>
      <p:sp>
        <p:nvSpPr>
          <p:cNvPr id="40" name="Shape 38"/>
          <p:cNvSpPr/>
          <p:nvPr/>
        </p:nvSpPr>
        <p:spPr>
          <a:xfrm>
            <a:off x="4754880" y="2916936"/>
            <a:ext cx="4160520" cy="548640"/>
          </a:xfrm>
          <a:prstGeom prst="rect">
            <a:avLst/>
          </a:prstGeom>
          <a:solidFill>
            <a:srgbClr val="FAF0F1"/>
          </a:solidFill>
          <a:ln w="6350">
            <a:solidFill>
              <a:srgbClr val="E8C5C8"/>
            </a:solidFill>
            <a:prstDash val="solid"/>
          </a:ln>
        </p:spPr>
      </p:sp>
      <p:sp>
        <p:nvSpPr>
          <p:cNvPr id="41" name="Shape 39"/>
          <p:cNvSpPr/>
          <p:nvPr/>
        </p:nvSpPr>
        <p:spPr>
          <a:xfrm>
            <a:off x="4754880" y="2916936"/>
            <a:ext cx="502920" cy="548640"/>
          </a:xfrm>
          <a:prstGeom prst="rect">
            <a:avLst/>
          </a:prstGeom>
          <a:solidFill>
            <a:srgbClr val="6B0F1A"/>
          </a:solidFill>
          <a:ln w="12700">
            <a:solidFill>
              <a:srgbClr val="6B0F1A"/>
            </a:solidFill>
            <a:prstDash val="solid"/>
          </a:ln>
        </p:spPr>
      </p:sp>
      <p:sp>
        <p:nvSpPr>
          <p:cNvPr id="42" name="Text 40"/>
          <p:cNvSpPr/>
          <p:nvPr/>
        </p:nvSpPr>
        <p:spPr>
          <a:xfrm>
            <a:off x="4754880" y="3008376"/>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10</a:t>
            </a:r>
            <a:endParaRPr lang="en-US" sz="1200" dirty="0"/>
          </a:p>
        </p:txBody>
      </p:sp>
      <p:sp>
        <p:nvSpPr>
          <p:cNvPr id="43" name="Text 41"/>
          <p:cNvSpPr/>
          <p:nvPr/>
        </p:nvSpPr>
        <p:spPr>
          <a:xfrm>
            <a:off x="5349240" y="3026664"/>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Key Features</a:t>
            </a:r>
            <a:endParaRPr lang="en-US" sz="1200" dirty="0"/>
          </a:p>
        </p:txBody>
      </p:sp>
      <p:sp>
        <p:nvSpPr>
          <p:cNvPr id="44" name="Shape 42"/>
          <p:cNvSpPr/>
          <p:nvPr/>
        </p:nvSpPr>
        <p:spPr>
          <a:xfrm>
            <a:off x="4754880" y="3584448"/>
            <a:ext cx="4160520" cy="548640"/>
          </a:xfrm>
          <a:prstGeom prst="rect">
            <a:avLst/>
          </a:prstGeom>
          <a:solidFill>
            <a:srgbClr val="FFFFFF"/>
          </a:solidFill>
          <a:ln w="6350">
            <a:solidFill>
              <a:srgbClr val="E8C5C8"/>
            </a:solidFill>
            <a:prstDash val="solid"/>
          </a:ln>
        </p:spPr>
      </p:sp>
      <p:sp>
        <p:nvSpPr>
          <p:cNvPr id="45" name="Shape 43"/>
          <p:cNvSpPr/>
          <p:nvPr/>
        </p:nvSpPr>
        <p:spPr>
          <a:xfrm>
            <a:off x="4754880" y="3584448"/>
            <a:ext cx="502920" cy="548640"/>
          </a:xfrm>
          <a:prstGeom prst="rect">
            <a:avLst/>
          </a:prstGeom>
          <a:solidFill>
            <a:srgbClr val="6B0F1A"/>
          </a:solidFill>
          <a:ln w="12700">
            <a:solidFill>
              <a:srgbClr val="6B0F1A"/>
            </a:solidFill>
            <a:prstDash val="solid"/>
          </a:ln>
        </p:spPr>
      </p:sp>
      <p:sp>
        <p:nvSpPr>
          <p:cNvPr id="46" name="Text 44"/>
          <p:cNvSpPr/>
          <p:nvPr/>
        </p:nvSpPr>
        <p:spPr>
          <a:xfrm>
            <a:off x="4754880" y="3675888"/>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11</a:t>
            </a:r>
            <a:endParaRPr lang="en-US" sz="1200" dirty="0"/>
          </a:p>
        </p:txBody>
      </p:sp>
      <p:sp>
        <p:nvSpPr>
          <p:cNvPr id="47" name="Text 45"/>
          <p:cNvSpPr/>
          <p:nvPr/>
        </p:nvSpPr>
        <p:spPr>
          <a:xfrm>
            <a:off x="5349240" y="3694176"/>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Testing &amp; Results</a:t>
            </a:r>
            <a:endParaRPr lang="en-US" sz="1200" dirty="0"/>
          </a:p>
        </p:txBody>
      </p:sp>
      <p:sp>
        <p:nvSpPr>
          <p:cNvPr id="48" name="Shape 46"/>
          <p:cNvSpPr/>
          <p:nvPr/>
        </p:nvSpPr>
        <p:spPr>
          <a:xfrm>
            <a:off x="4754880" y="4251960"/>
            <a:ext cx="4160520" cy="548640"/>
          </a:xfrm>
          <a:prstGeom prst="rect">
            <a:avLst/>
          </a:prstGeom>
          <a:solidFill>
            <a:srgbClr val="FAF0F1"/>
          </a:solidFill>
          <a:ln w="6350">
            <a:solidFill>
              <a:srgbClr val="E8C5C8"/>
            </a:solidFill>
            <a:prstDash val="solid"/>
          </a:ln>
        </p:spPr>
      </p:sp>
      <p:sp>
        <p:nvSpPr>
          <p:cNvPr id="49" name="Shape 47"/>
          <p:cNvSpPr/>
          <p:nvPr/>
        </p:nvSpPr>
        <p:spPr>
          <a:xfrm>
            <a:off x="4754880" y="4251960"/>
            <a:ext cx="502920" cy="548640"/>
          </a:xfrm>
          <a:prstGeom prst="rect">
            <a:avLst/>
          </a:prstGeom>
          <a:solidFill>
            <a:srgbClr val="6B0F1A"/>
          </a:solidFill>
          <a:ln w="12700">
            <a:solidFill>
              <a:srgbClr val="6B0F1A"/>
            </a:solidFill>
            <a:prstDash val="solid"/>
          </a:ln>
        </p:spPr>
      </p:sp>
      <p:sp>
        <p:nvSpPr>
          <p:cNvPr id="50" name="Text 48"/>
          <p:cNvSpPr/>
          <p:nvPr/>
        </p:nvSpPr>
        <p:spPr>
          <a:xfrm>
            <a:off x="4754880" y="4343400"/>
            <a:ext cx="502920" cy="365760"/>
          </a:xfrm>
          <a:prstGeom prst="rect">
            <a:avLst/>
          </a:prstGeom>
          <a:noFill/>
        </p:spPr>
        <p:txBody>
          <a:bodyPr wrap="square" rtlCol="0" anchor="ctr"/>
          <a:lstStyle/>
          <a:p>
            <a:pPr marL="0" indent="0" algn="ctr">
              <a:buNone/>
            </a:pPr>
            <a:r>
              <a:rPr lang="en-US" sz="1200" b="1" dirty="0">
                <a:solidFill>
                  <a:srgbClr val="C9A84C"/>
                </a:solidFill>
                <a:latin typeface="Calibri" panose="020F0502020204030204" pitchFamily="34" charset="0"/>
                <a:ea typeface="Calibri" panose="020F0502020204030204" pitchFamily="34" charset="-122"/>
                <a:cs typeface="Calibri" panose="020F0502020204030204" pitchFamily="34" charset="-120"/>
              </a:rPr>
              <a:t>12</a:t>
            </a:r>
            <a:endParaRPr lang="en-US" sz="1200" dirty="0"/>
          </a:p>
        </p:txBody>
      </p:sp>
      <p:sp>
        <p:nvSpPr>
          <p:cNvPr id="51" name="Text 49"/>
          <p:cNvSpPr/>
          <p:nvPr/>
        </p:nvSpPr>
        <p:spPr>
          <a:xfrm>
            <a:off x="5349240" y="4361688"/>
            <a:ext cx="3474720" cy="347472"/>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Conclusion</a:t>
            </a:r>
            <a:endParaRPr lang="en-US" sz="1200" dirty="0"/>
          </a:p>
        </p:txBody>
      </p:sp>
      <p:sp>
        <p:nvSpPr>
          <p:cNvPr id="52" name="Shape 50"/>
          <p:cNvSpPr/>
          <p:nvPr/>
        </p:nvSpPr>
        <p:spPr>
          <a:xfrm>
            <a:off x="0" y="4956048"/>
            <a:ext cx="9144000" cy="182880"/>
          </a:xfrm>
          <a:prstGeom prst="rect">
            <a:avLst/>
          </a:prstGeom>
          <a:solidFill>
            <a:srgbClr val="3B0009"/>
          </a:solidFill>
          <a:ln w="12700">
            <a:solidFill>
              <a:srgbClr val="3B0009"/>
            </a:solidFill>
            <a:prstDash val="solid"/>
          </a:ln>
        </p:spPr>
        <p:txBody>
          <a:bodyPr/>
          <a:p>
            <a:endParaRPr lang="en-US"/>
          </a:p>
        </p:txBody>
      </p:sp>
      <p:sp>
        <p:nvSpPr>
          <p:cNvPr id="53" name="Text 51"/>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Chapter 1: Introduction</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Text 3"/>
          <p:cNvSpPr/>
          <p:nvPr/>
        </p:nvSpPr>
        <p:spPr>
          <a:xfrm>
            <a:off x="411480" y="1097280"/>
            <a:ext cx="8321040" cy="365760"/>
          </a:xfrm>
          <a:prstGeom prst="rect">
            <a:avLst/>
          </a:prstGeom>
          <a:noFill/>
        </p:spPr>
        <p:txBody>
          <a:bodyPr wrap="square" rtlCol="0" anchor="ctr"/>
          <a:lstStyle/>
          <a:p>
            <a:pPr marL="0" indent="0">
              <a:buNone/>
            </a:pPr>
            <a:r>
              <a:rPr lang="en-US" sz="1600" b="1" dirty="0">
                <a:solidFill>
                  <a:srgbClr val="6B0F1A"/>
                </a:solidFill>
                <a:latin typeface="Calibri" panose="020F0502020204030204" pitchFamily="34" charset="0"/>
                <a:ea typeface="Calibri" panose="020F0502020204030204" pitchFamily="34" charset="-122"/>
                <a:cs typeface="Calibri" panose="020F0502020204030204" pitchFamily="34" charset="-120"/>
              </a:rPr>
              <a:t>What is a Grade Portal?</a:t>
            </a:r>
            <a:endParaRPr lang="en-US" sz="1600" dirty="0"/>
          </a:p>
        </p:txBody>
      </p:sp>
      <p:sp>
        <p:nvSpPr>
          <p:cNvPr id="6" name="Text 4"/>
          <p:cNvSpPr/>
          <p:nvPr/>
        </p:nvSpPr>
        <p:spPr>
          <a:xfrm>
            <a:off x="411480" y="1536192"/>
            <a:ext cx="8321040" cy="594360"/>
          </a:xfrm>
          <a:prstGeom prst="rect">
            <a:avLst/>
          </a:prstGeom>
          <a:noFill/>
        </p:spPr>
        <p:txBody>
          <a:bodyPr wrap="square" rtlCol="0" anchor="ctr"/>
          <a:lstStyle/>
          <a:p>
            <a:pPr marL="0" indent="0">
              <a:buNone/>
            </a:pPr>
            <a:r>
              <a:rPr lang="en-US" sz="1300" dirty="0">
                <a:solidFill>
                  <a:srgbClr val="2E0A10"/>
                </a:solidFill>
                <a:latin typeface="Calibri" panose="020F0502020204030204" pitchFamily="34" charset="0"/>
                <a:ea typeface="Calibri" panose="020F0502020204030204" pitchFamily="34" charset="-122"/>
                <a:cs typeface="Calibri" panose="020F0502020204030204" pitchFamily="34" charset="-120"/>
              </a:rPr>
              <a:t>A grade portal is an online platform that allows parents to view the academic performance of their children  — digitally and in real time.</a:t>
            </a:r>
            <a:endParaRPr lang="en-US" sz="1300" dirty="0"/>
          </a:p>
        </p:txBody>
      </p:sp>
      <p:sp>
        <p:nvSpPr>
          <p:cNvPr id="7" name="Shape 5"/>
          <p:cNvSpPr/>
          <p:nvPr/>
        </p:nvSpPr>
        <p:spPr>
          <a:xfrm>
            <a:off x="411480" y="2212848"/>
            <a:ext cx="8321040" cy="36576"/>
          </a:xfrm>
          <a:prstGeom prst="rect">
            <a:avLst/>
          </a:prstGeom>
          <a:solidFill>
            <a:srgbClr val="E8C5C8"/>
          </a:solidFill>
          <a:ln w="12700">
            <a:solidFill>
              <a:srgbClr val="E8C5C8"/>
            </a:solidFill>
            <a:prstDash val="solid"/>
          </a:ln>
        </p:spPr>
      </p:sp>
      <p:sp>
        <p:nvSpPr>
          <p:cNvPr id="8" name="Text 6"/>
          <p:cNvSpPr/>
          <p:nvPr/>
        </p:nvSpPr>
        <p:spPr>
          <a:xfrm>
            <a:off x="411480" y="2359152"/>
            <a:ext cx="8321040" cy="365760"/>
          </a:xfrm>
          <a:prstGeom prst="rect">
            <a:avLst/>
          </a:prstGeom>
          <a:noFill/>
        </p:spPr>
        <p:txBody>
          <a:bodyPr wrap="square" rtlCol="0" anchor="ctr"/>
          <a:lstStyle/>
          <a:p>
            <a:pPr marL="0" indent="0">
              <a:buNone/>
            </a:pPr>
            <a:r>
              <a:rPr lang="en-US" sz="1600" b="1" dirty="0">
                <a:solidFill>
                  <a:srgbClr val="6B0F1A"/>
                </a:solidFill>
                <a:latin typeface="Calibri" panose="020F0502020204030204" pitchFamily="34" charset="0"/>
                <a:ea typeface="Calibri" panose="020F0502020204030204" pitchFamily="34" charset="-122"/>
                <a:cs typeface="Calibri" panose="020F0502020204030204" pitchFamily="34" charset="-120"/>
              </a:rPr>
              <a:t>Project Context</a:t>
            </a:r>
            <a:endParaRPr lang="en-US" sz="1600" dirty="0"/>
          </a:p>
        </p:txBody>
      </p:sp>
      <p:sp>
        <p:nvSpPr>
          <p:cNvPr id="9" name="Text 7"/>
          <p:cNvSpPr/>
          <p:nvPr/>
        </p:nvSpPr>
        <p:spPr>
          <a:xfrm>
            <a:off x="411480" y="2788920"/>
            <a:ext cx="8321040" cy="1920240"/>
          </a:xfrm>
          <a:prstGeom prst="rect">
            <a:avLst/>
          </a:prstGeom>
          <a:noFill/>
        </p:spPr>
        <p:txBody>
          <a:bodyPr wrap="square" rtlCol="0" anchor="ctr"/>
          <a:lstStyle/>
          <a:p>
            <a:pPr marL="342900" indent="-342900">
              <a:spcAft>
                <a:spcPts val="600"/>
              </a:spcAft>
              <a:buSzPct val="100000"/>
              <a:buChar char="•"/>
            </a:pPr>
            <a:r>
              <a:rPr lang="en-US" sz="1250" dirty="0">
                <a:solidFill>
                  <a:srgbClr val="2E0A10"/>
                </a:solidFill>
                <a:latin typeface="Calibri" panose="020F0502020204030204" pitchFamily="34" charset="0"/>
                <a:ea typeface="Calibri" panose="020F0502020204030204" pitchFamily="34" charset="-122"/>
                <a:cs typeface="Calibri" panose="020F0502020204030204" pitchFamily="34" charset="-120"/>
              </a:rPr>
              <a:t>Bunawan Aplaya Elementary School is a public school far from the city center where modern technology is not widely used.</a:t>
            </a:r>
            <a:endParaRPr lang="en-US" sz="1250" dirty="0"/>
          </a:p>
          <a:p>
            <a:pPr marL="342900" indent="-342900">
              <a:spcAft>
                <a:spcPts val="600"/>
              </a:spcAft>
              <a:buSzPct val="100000"/>
              <a:buChar char="•"/>
            </a:pPr>
            <a:r>
              <a:rPr lang="en-US" sz="1250" dirty="0">
                <a:solidFill>
                  <a:srgbClr val="2E0A10"/>
                </a:solidFill>
                <a:latin typeface="Calibri" panose="020F0502020204030204" pitchFamily="34" charset="0"/>
                <a:ea typeface="Calibri" panose="020F0502020204030204" pitchFamily="34" charset="-122"/>
                <a:cs typeface="Calibri" panose="020F0502020204030204" pitchFamily="34" charset="-120"/>
              </a:rPr>
              <a:t>Teachers still manage student records using outdated, manual methods, making it difficult to track performance efficiently.</a:t>
            </a:r>
            <a:endParaRPr lang="en-US" sz="1250" dirty="0"/>
          </a:p>
          <a:p>
            <a:pPr marL="342900" indent="-342900">
              <a:spcAft>
                <a:spcPts val="600"/>
              </a:spcAft>
              <a:buSzPct val="100000"/>
              <a:buChar char="•"/>
            </a:pPr>
            <a:r>
              <a:rPr lang="en-US" sz="1250" dirty="0">
                <a:solidFill>
                  <a:srgbClr val="2E0A10"/>
                </a:solidFill>
                <a:latin typeface="Calibri" panose="020F0502020204030204" pitchFamily="34" charset="0"/>
                <a:ea typeface="Calibri" panose="020F0502020204030204" pitchFamily="34" charset="-122"/>
                <a:cs typeface="Calibri" panose="020F0502020204030204" pitchFamily="34" charset="-120"/>
              </a:rPr>
              <a:t>Parents have no reliable way to monitor their child's grades — there is no formal system for sharing academic records.</a:t>
            </a:r>
            <a:endParaRPr lang="en-US" sz="1250" dirty="0"/>
          </a:p>
          <a:p>
            <a:pPr marL="342900" indent="-342900">
              <a:spcAft>
                <a:spcPts val="600"/>
              </a:spcAft>
              <a:buSzPct val="100000"/>
              <a:buChar char="•"/>
            </a:pPr>
            <a:r>
              <a:rPr lang="en-US" sz="1250" dirty="0">
                <a:solidFill>
                  <a:srgbClr val="2E0A10"/>
                </a:solidFill>
                <a:latin typeface="Calibri" panose="020F0502020204030204" pitchFamily="34" charset="0"/>
                <a:ea typeface="Calibri" panose="020F0502020204030204" pitchFamily="34" charset="-122"/>
                <a:cs typeface="Calibri" panose="020F0502020204030204" pitchFamily="34" charset="-120"/>
              </a:rPr>
              <a:t>The lack of timely information exchange between teachers and parents can negatively impact a student's academic development.</a:t>
            </a:r>
            <a:endParaRPr lang="en-US" sz="1250" dirty="0"/>
          </a:p>
        </p:txBody>
      </p:sp>
      <p:sp>
        <p:nvSpPr>
          <p:cNvPr id="10" name="Shape 8"/>
          <p:cNvSpPr/>
          <p:nvPr/>
        </p:nvSpPr>
        <p:spPr>
          <a:xfrm>
            <a:off x="0" y="4956048"/>
            <a:ext cx="9144000" cy="182880"/>
          </a:xfrm>
          <a:prstGeom prst="rect">
            <a:avLst/>
          </a:prstGeom>
          <a:solidFill>
            <a:srgbClr val="3B0009"/>
          </a:solidFill>
          <a:ln w="12700">
            <a:solidFill>
              <a:srgbClr val="3B0009"/>
            </a:solidFill>
            <a:prstDash val="solid"/>
          </a:ln>
        </p:spPr>
      </p:sp>
      <p:sp>
        <p:nvSpPr>
          <p:cNvPr id="11" name="Text 9"/>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B1D28"/>
          </a:solidFill>
          <a:ln w="12700">
            <a:solidFill>
              <a:srgbClr val="9B1D28"/>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Purpose &amp; Description</a:t>
            </a:r>
            <a:endParaRPr lang="en-US" sz="2800" dirty="0"/>
          </a:p>
        </p:txBody>
      </p:sp>
      <p:sp>
        <p:nvSpPr>
          <p:cNvPr id="4" name="Shape 2"/>
          <p:cNvSpPr/>
          <p:nvPr/>
        </p:nvSpPr>
        <p:spPr>
          <a:xfrm>
            <a:off x="320040" y="914400"/>
            <a:ext cx="8503920" cy="1417320"/>
          </a:xfrm>
          <a:prstGeom prst="rect">
            <a:avLst/>
          </a:prstGeom>
          <a:solidFill>
            <a:srgbClr val="6B0F1A"/>
          </a:solidFill>
          <a:ln w="12700">
            <a:solidFill>
              <a:srgbClr val="E8C5C8"/>
            </a:solidFill>
            <a:prstDash val="solid"/>
          </a:ln>
          <a:effectLst>
            <a:outerShdw blurRad="63500" dist="25400" dir="8100000" algn="bl" rotWithShape="0">
              <a:srgbClr val="000000">
                <a:alpha val="7000"/>
              </a:srgbClr>
            </a:outerShdw>
          </a:effectLst>
        </p:spPr>
      </p:sp>
      <p:sp>
        <p:nvSpPr>
          <p:cNvPr id="5" name="Text 3"/>
          <p:cNvSpPr/>
          <p:nvPr/>
        </p:nvSpPr>
        <p:spPr>
          <a:xfrm>
            <a:off x="502920" y="1005840"/>
            <a:ext cx="2286000" cy="320040"/>
          </a:xfrm>
          <a:prstGeom prst="rect">
            <a:avLst/>
          </a:prstGeom>
          <a:noFill/>
        </p:spPr>
        <p:txBody>
          <a:bodyPr wrap="square" rtlCol="0" anchor="ctr"/>
          <a:lstStyle/>
          <a:p>
            <a:pPr marL="0" indent="0">
              <a:buNone/>
            </a:pPr>
            <a:r>
              <a:rPr lang="en-US" sz="1400" b="1" dirty="0">
                <a:solidFill>
                  <a:srgbClr val="C9A84C"/>
                </a:solidFill>
                <a:latin typeface="Calibri" panose="020F0502020204030204" pitchFamily="34" charset="0"/>
                <a:ea typeface="Calibri" panose="020F0502020204030204" pitchFamily="34" charset="-122"/>
                <a:cs typeface="Calibri" panose="020F0502020204030204" pitchFamily="34" charset="-120"/>
              </a:rPr>
              <a:t>Purpose</a:t>
            </a:r>
            <a:endParaRPr lang="en-US" sz="1400" dirty="0"/>
          </a:p>
        </p:txBody>
      </p:sp>
      <p:sp>
        <p:nvSpPr>
          <p:cNvPr id="6" name="Text 4"/>
          <p:cNvSpPr/>
          <p:nvPr/>
        </p:nvSpPr>
        <p:spPr>
          <a:xfrm>
            <a:off x="502920" y="1353312"/>
            <a:ext cx="8229600" cy="822960"/>
          </a:xfrm>
          <a:prstGeom prst="rect">
            <a:avLst/>
          </a:prstGeom>
          <a:noFill/>
        </p:spPr>
        <p:txBody>
          <a:bodyPr wrap="square" rtlCol="0" anchor="ctr"/>
          <a:lstStyle/>
          <a:p>
            <a:pPr marL="0" indent="0">
              <a:buNone/>
            </a:pPr>
            <a:r>
              <a:rPr lang="en-US" sz="1250" dirty="0">
                <a:solidFill>
                  <a:srgbClr val="FFFFFF"/>
                </a:solidFill>
                <a:latin typeface="Calibri" panose="020F0502020204030204" pitchFamily="34" charset="0"/>
                <a:ea typeface="Calibri" panose="020F0502020204030204" pitchFamily="34" charset="-122"/>
                <a:cs typeface="Calibri" panose="020F0502020204030204" pitchFamily="34" charset="-120"/>
              </a:rPr>
              <a:t>The grade portal was developed to improve the monitoring of academic development of all students in Bunawan Aplaya Elementary School. It gives teachers the tools to input and manage grades digitally, while providing parents with a clear, up-to-date view of their child's performance per semester for early intervention when needed.</a:t>
            </a:r>
            <a:endParaRPr lang="en-US" sz="1250" dirty="0"/>
          </a:p>
        </p:txBody>
      </p:sp>
      <p:sp>
        <p:nvSpPr>
          <p:cNvPr id="7" name="Shape 5"/>
          <p:cNvSpPr/>
          <p:nvPr/>
        </p:nvSpPr>
        <p:spPr>
          <a:xfrm>
            <a:off x="320040" y="2487168"/>
            <a:ext cx="8503920" cy="1417320"/>
          </a:xfrm>
          <a:prstGeom prst="rect">
            <a:avLst/>
          </a:prstGeom>
          <a:solidFill>
            <a:srgbClr val="FFFFFF"/>
          </a:solidFill>
          <a:ln w="12700">
            <a:solidFill>
              <a:srgbClr val="E8C5C8"/>
            </a:solidFill>
            <a:prstDash val="solid"/>
          </a:ln>
          <a:effectLst>
            <a:outerShdw blurRad="63500" dist="25400" dir="8100000" algn="bl" rotWithShape="0">
              <a:srgbClr val="000000">
                <a:alpha val="7000"/>
              </a:srgbClr>
            </a:outerShdw>
          </a:effectLst>
        </p:spPr>
      </p:sp>
      <p:sp>
        <p:nvSpPr>
          <p:cNvPr id="8" name="Shape 6"/>
          <p:cNvSpPr/>
          <p:nvPr/>
        </p:nvSpPr>
        <p:spPr>
          <a:xfrm>
            <a:off x="320040" y="2487168"/>
            <a:ext cx="91440" cy="1417320"/>
          </a:xfrm>
          <a:prstGeom prst="rect">
            <a:avLst/>
          </a:prstGeom>
          <a:solidFill>
            <a:srgbClr val="C9A84C"/>
          </a:solidFill>
          <a:ln w="12700">
            <a:solidFill>
              <a:srgbClr val="C9A84C"/>
            </a:solidFill>
            <a:prstDash val="solid"/>
          </a:ln>
        </p:spPr>
      </p:sp>
      <p:sp>
        <p:nvSpPr>
          <p:cNvPr id="9" name="Text 7"/>
          <p:cNvSpPr/>
          <p:nvPr/>
        </p:nvSpPr>
        <p:spPr>
          <a:xfrm>
            <a:off x="548640" y="2578608"/>
            <a:ext cx="2286000" cy="320040"/>
          </a:xfrm>
          <a:prstGeom prst="rect">
            <a:avLst/>
          </a:prstGeom>
          <a:noFill/>
        </p:spPr>
        <p:txBody>
          <a:bodyPr wrap="square" rtlCol="0" anchor="ctr"/>
          <a:lstStyle/>
          <a:p>
            <a:pPr marL="0" indent="0">
              <a:buNone/>
            </a:pPr>
            <a:r>
              <a:rPr lang="en-US" sz="1400" b="1" dirty="0">
                <a:solidFill>
                  <a:srgbClr val="6B0F1A"/>
                </a:solidFill>
                <a:latin typeface="Calibri" panose="020F0502020204030204" pitchFamily="34" charset="0"/>
                <a:ea typeface="Calibri" panose="020F0502020204030204" pitchFamily="34" charset="-122"/>
                <a:cs typeface="Calibri" panose="020F0502020204030204" pitchFamily="34" charset="-120"/>
              </a:rPr>
              <a:t>Description</a:t>
            </a:r>
            <a:endParaRPr lang="en-US" sz="1400" dirty="0"/>
          </a:p>
        </p:txBody>
      </p:sp>
      <p:sp>
        <p:nvSpPr>
          <p:cNvPr id="10" name="Text 8"/>
          <p:cNvSpPr/>
          <p:nvPr/>
        </p:nvSpPr>
        <p:spPr>
          <a:xfrm>
            <a:off x="548640" y="2926080"/>
            <a:ext cx="8229600" cy="822960"/>
          </a:xfrm>
          <a:prstGeom prst="rect">
            <a:avLst/>
          </a:prstGeom>
          <a:noFill/>
        </p:spPr>
        <p:txBody>
          <a:bodyPr wrap="square" rtlCol="0" anchor="ctr"/>
          <a:lstStyle/>
          <a:p>
            <a:pPr marL="0" indent="0">
              <a:buNone/>
            </a:pPr>
            <a:r>
              <a:rPr lang="en-US" sz="1250" dirty="0">
                <a:solidFill>
                  <a:srgbClr val="2E0A10"/>
                </a:solidFill>
                <a:latin typeface="Calibri" panose="020F0502020204030204" pitchFamily="34" charset="0"/>
                <a:ea typeface="Calibri" panose="020F0502020204030204" pitchFamily="34" charset="-122"/>
                <a:cs typeface="Calibri" panose="020F0502020204030204" pitchFamily="34" charset="-120"/>
              </a:rPr>
              <a:t>The system is a web-based application that serves as an interactive digital platform. Teachers use it to upload and manage student grades. Parents log in to their own account to view their child's academic records per grading period — anytime, anywhere with an internet connection.</a:t>
            </a:r>
            <a:endParaRPr lang="en-US" sz="1250" dirty="0"/>
          </a:p>
        </p:txBody>
      </p:sp>
      <p:sp>
        <p:nvSpPr>
          <p:cNvPr id="11" name="Shape 9"/>
          <p:cNvSpPr/>
          <p:nvPr/>
        </p:nvSpPr>
        <p:spPr>
          <a:xfrm>
            <a:off x="320040" y="4041648"/>
            <a:ext cx="2743200" cy="411480"/>
          </a:xfrm>
          <a:prstGeom prst="rect">
            <a:avLst/>
          </a:prstGeom>
          <a:solidFill>
            <a:srgbClr val="C9A84C"/>
          </a:solidFill>
          <a:ln w="12700">
            <a:solidFill>
              <a:srgbClr val="C9A84C"/>
            </a:solidFill>
            <a:prstDash val="solid"/>
          </a:ln>
        </p:spPr>
      </p:sp>
      <p:sp>
        <p:nvSpPr>
          <p:cNvPr id="12" name="Text 10"/>
          <p:cNvSpPr/>
          <p:nvPr/>
        </p:nvSpPr>
        <p:spPr>
          <a:xfrm>
            <a:off x="320040" y="4087368"/>
            <a:ext cx="2743200" cy="320040"/>
          </a:xfrm>
          <a:prstGeom prst="rect">
            <a:avLst/>
          </a:prstGeom>
          <a:noFill/>
        </p:spPr>
        <p:txBody>
          <a:bodyPr wrap="square" rtlCol="0" anchor="ctr"/>
          <a:lstStyle/>
          <a:p>
            <a:pPr marL="0" indent="0" algn="ctr">
              <a:buNone/>
            </a:pPr>
            <a:r>
              <a:rPr lang="en-US" sz="1150" b="1" dirty="0">
                <a:solidFill>
                  <a:srgbClr val="3B0009"/>
                </a:solidFill>
                <a:latin typeface="Calibri" panose="020F0502020204030204" pitchFamily="34" charset="0"/>
                <a:ea typeface="Calibri" panose="020F0502020204030204" pitchFamily="34" charset="-122"/>
                <a:cs typeface="Calibri" panose="020F0502020204030204" pitchFamily="34" charset="-120"/>
              </a:rPr>
              <a:t>Web-Based Application</a:t>
            </a:r>
            <a:endParaRPr lang="en-US" sz="1150" dirty="0"/>
          </a:p>
        </p:txBody>
      </p:sp>
      <p:sp>
        <p:nvSpPr>
          <p:cNvPr id="13" name="Shape 11"/>
          <p:cNvSpPr/>
          <p:nvPr/>
        </p:nvSpPr>
        <p:spPr>
          <a:xfrm>
            <a:off x="3200400" y="4041648"/>
            <a:ext cx="2743200" cy="411480"/>
          </a:xfrm>
          <a:prstGeom prst="rect">
            <a:avLst/>
          </a:prstGeom>
          <a:solidFill>
            <a:srgbClr val="C9A84C"/>
          </a:solidFill>
          <a:ln w="12700">
            <a:solidFill>
              <a:srgbClr val="C9A84C"/>
            </a:solidFill>
            <a:prstDash val="solid"/>
          </a:ln>
        </p:spPr>
      </p:sp>
      <p:sp>
        <p:nvSpPr>
          <p:cNvPr id="14" name="Text 12"/>
          <p:cNvSpPr/>
          <p:nvPr/>
        </p:nvSpPr>
        <p:spPr>
          <a:xfrm>
            <a:off x="3200400" y="4087368"/>
            <a:ext cx="2743200" cy="320040"/>
          </a:xfrm>
          <a:prstGeom prst="rect">
            <a:avLst/>
          </a:prstGeom>
          <a:noFill/>
        </p:spPr>
        <p:txBody>
          <a:bodyPr wrap="square" rtlCol="0" anchor="ctr"/>
          <a:lstStyle/>
          <a:p>
            <a:pPr marL="0" indent="0" algn="ctr">
              <a:buNone/>
            </a:pPr>
            <a:r>
              <a:rPr lang="en-US" sz="1150" b="1" dirty="0">
                <a:solidFill>
                  <a:srgbClr val="3B0009"/>
                </a:solidFill>
                <a:latin typeface="Calibri" panose="020F0502020204030204" pitchFamily="34" charset="0"/>
                <a:ea typeface="Calibri" panose="020F0502020204030204" pitchFamily="34" charset="-122"/>
                <a:cs typeface="Calibri" panose="020F0502020204030204" pitchFamily="34" charset="-120"/>
              </a:rPr>
              <a:t>Real-Time Grade Access</a:t>
            </a:r>
            <a:endParaRPr lang="en-US" sz="1150" dirty="0"/>
          </a:p>
        </p:txBody>
      </p:sp>
      <p:sp>
        <p:nvSpPr>
          <p:cNvPr id="15" name="Shape 13"/>
          <p:cNvSpPr/>
          <p:nvPr/>
        </p:nvSpPr>
        <p:spPr>
          <a:xfrm>
            <a:off x="6080760" y="4041648"/>
            <a:ext cx="2743200" cy="411480"/>
          </a:xfrm>
          <a:prstGeom prst="rect">
            <a:avLst/>
          </a:prstGeom>
          <a:solidFill>
            <a:srgbClr val="C9A84C"/>
          </a:solidFill>
          <a:ln w="12700">
            <a:solidFill>
              <a:srgbClr val="C9A84C"/>
            </a:solidFill>
            <a:prstDash val="solid"/>
          </a:ln>
        </p:spPr>
      </p:sp>
      <p:sp>
        <p:nvSpPr>
          <p:cNvPr id="16" name="Text 14"/>
          <p:cNvSpPr/>
          <p:nvPr/>
        </p:nvSpPr>
        <p:spPr>
          <a:xfrm>
            <a:off x="6080760" y="4087368"/>
            <a:ext cx="2743200" cy="320040"/>
          </a:xfrm>
          <a:prstGeom prst="rect">
            <a:avLst/>
          </a:prstGeom>
          <a:noFill/>
        </p:spPr>
        <p:txBody>
          <a:bodyPr wrap="square" rtlCol="0" anchor="ctr"/>
          <a:lstStyle/>
          <a:p>
            <a:pPr marL="0" indent="0" algn="ctr">
              <a:buNone/>
            </a:pPr>
            <a:r>
              <a:rPr lang="en-US" sz="1150" b="1" dirty="0">
                <a:solidFill>
                  <a:srgbClr val="3B0009"/>
                </a:solidFill>
                <a:latin typeface="Calibri" panose="020F0502020204030204" pitchFamily="34" charset="0"/>
                <a:ea typeface="Calibri" panose="020F0502020204030204" pitchFamily="34" charset="-122"/>
                <a:cs typeface="Calibri" panose="020F0502020204030204" pitchFamily="34" charset="-120"/>
              </a:rPr>
              <a:t>Role-Based User Access</a:t>
            </a:r>
            <a:endParaRPr lang="en-US" sz="1150" dirty="0"/>
          </a:p>
        </p:txBody>
      </p:sp>
      <p:sp>
        <p:nvSpPr>
          <p:cNvPr id="17" name="Shape 15"/>
          <p:cNvSpPr/>
          <p:nvPr/>
        </p:nvSpPr>
        <p:spPr>
          <a:xfrm>
            <a:off x="0" y="4956048"/>
            <a:ext cx="9144000" cy="182880"/>
          </a:xfrm>
          <a:prstGeom prst="rect">
            <a:avLst/>
          </a:prstGeom>
          <a:solidFill>
            <a:srgbClr val="3B0009"/>
          </a:solidFill>
          <a:ln w="12700">
            <a:solidFill>
              <a:srgbClr val="3B0009"/>
            </a:solidFill>
            <a:prstDash val="solid"/>
          </a:ln>
        </p:spPr>
      </p:sp>
      <p:sp>
        <p:nvSpPr>
          <p:cNvPr id="18" name="Text 16"/>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Objectives</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Shape 3"/>
          <p:cNvSpPr/>
          <p:nvPr/>
        </p:nvSpPr>
        <p:spPr>
          <a:xfrm>
            <a:off x="274320" y="1097280"/>
            <a:ext cx="4160520" cy="1645920"/>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6" name="Shape 4"/>
          <p:cNvSpPr/>
          <p:nvPr/>
        </p:nvSpPr>
        <p:spPr>
          <a:xfrm>
            <a:off x="274320" y="1097280"/>
            <a:ext cx="91440" cy="1645920"/>
          </a:xfrm>
          <a:prstGeom prst="rect">
            <a:avLst/>
          </a:prstGeom>
          <a:solidFill>
            <a:srgbClr val="C9A84C"/>
          </a:solidFill>
          <a:ln w="12700">
            <a:solidFill>
              <a:srgbClr val="C9A84C"/>
            </a:solidFill>
            <a:prstDash val="solid"/>
          </a:ln>
        </p:spPr>
      </p:sp>
      <p:sp>
        <p:nvSpPr>
          <p:cNvPr id="7" name="Shape 5"/>
          <p:cNvSpPr/>
          <p:nvPr/>
        </p:nvSpPr>
        <p:spPr>
          <a:xfrm>
            <a:off x="274320" y="1097280"/>
            <a:ext cx="502920" cy="502920"/>
          </a:xfrm>
          <a:prstGeom prst="rect">
            <a:avLst/>
          </a:prstGeom>
          <a:solidFill>
            <a:srgbClr val="6B0F1A"/>
          </a:solidFill>
          <a:ln w="12700">
            <a:solidFill>
              <a:srgbClr val="6B0F1A"/>
            </a:solidFill>
            <a:prstDash val="solid"/>
          </a:ln>
        </p:spPr>
      </p:sp>
      <p:sp>
        <p:nvSpPr>
          <p:cNvPr id="8" name="Text 6"/>
          <p:cNvSpPr/>
          <p:nvPr/>
        </p:nvSpPr>
        <p:spPr>
          <a:xfrm>
            <a:off x="274320" y="1161288"/>
            <a:ext cx="502920" cy="384048"/>
          </a:xfrm>
          <a:prstGeom prst="rect">
            <a:avLst/>
          </a:prstGeom>
          <a:noFill/>
        </p:spPr>
        <p:txBody>
          <a:bodyPr wrap="square" rtlCol="0" anchor="ctr"/>
          <a:lstStyle/>
          <a:p>
            <a:pPr marL="0" indent="0" algn="ctr">
              <a:buNone/>
            </a:pPr>
            <a:r>
              <a:rPr lang="en-US" sz="1800" b="1" dirty="0">
                <a:solidFill>
                  <a:srgbClr val="C9A84C"/>
                </a:solidFill>
                <a:latin typeface="Calibri" panose="020F0502020204030204" pitchFamily="34" charset="0"/>
                <a:ea typeface="Calibri" panose="020F0502020204030204" pitchFamily="34" charset="-122"/>
                <a:cs typeface="Calibri" panose="020F0502020204030204" pitchFamily="34" charset="-120"/>
              </a:rPr>
              <a:t>1</a:t>
            </a:r>
            <a:endParaRPr lang="en-US" sz="1800" dirty="0"/>
          </a:p>
        </p:txBody>
      </p:sp>
      <p:sp>
        <p:nvSpPr>
          <p:cNvPr id="9" name="Text 7"/>
          <p:cNvSpPr/>
          <p:nvPr/>
        </p:nvSpPr>
        <p:spPr>
          <a:xfrm>
            <a:off x="914400" y="1188720"/>
            <a:ext cx="3383280" cy="347472"/>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Digital Grading System</a:t>
            </a:r>
            <a:endParaRPr lang="en-US" sz="1300" dirty="0"/>
          </a:p>
        </p:txBody>
      </p:sp>
      <p:sp>
        <p:nvSpPr>
          <p:cNvPr id="10" name="Text 8"/>
          <p:cNvSpPr/>
          <p:nvPr/>
        </p:nvSpPr>
        <p:spPr>
          <a:xfrm>
            <a:off x="457200" y="1645920"/>
            <a:ext cx="3840480" cy="960120"/>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Develop a centralized system that increases the efficiency of academic performance monitoring for both teachers and parents.</a:t>
            </a:r>
            <a:endParaRPr lang="en-US" sz="1200" dirty="0"/>
          </a:p>
        </p:txBody>
      </p:sp>
      <p:sp>
        <p:nvSpPr>
          <p:cNvPr id="11" name="Shape 9"/>
          <p:cNvSpPr/>
          <p:nvPr/>
        </p:nvSpPr>
        <p:spPr>
          <a:xfrm>
            <a:off x="4754880" y="1097280"/>
            <a:ext cx="4160520" cy="1645920"/>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2" name="Shape 10"/>
          <p:cNvSpPr/>
          <p:nvPr/>
        </p:nvSpPr>
        <p:spPr>
          <a:xfrm>
            <a:off x="4754880" y="1097280"/>
            <a:ext cx="91440" cy="1645920"/>
          </a:xfrm>
          <a:prstGeom prst="rect">
            <a:avLst/>
          </a:prstGeom>
          <a:solidFill>
            <a:srgbClr val="C9A84C"/>
          </a:solidFill>
          <a:ln w="12700">
            <a:solidFill>
              <a:srgbClr val="C9A84C"/>
            </a:solidFill>
            <a:prstDash val="solid"/>
          </a:ln>
        </p:spPr>
      </p:sp>
      <p:sp>
        <p:nvSpPr>
          <p:cNvPr id="13" name="Shape 11"/>
          <p:cNvSpPr/>
          <p:nvPr/>
        </p:nvSpPr>
        <p:spPr>
          <a:xfrm>
            <a:off x="4754880" y="1097280"/>
            <a:ext cx="502920" cy="502920"/>
          </a:xfrm>
          <a:prstGeom prst="rect">
            <a:avLst/>
          </a:prstGeom>
          <a:solidFill>
            <a:srgbClr val="6B0F1A"/>
          </a:solidFill>
          <a:ln w="12700">
            <a:solidFill>
              <a:srgbClr val="6B0F1A"/>
            </a:solidFill>
            <a:prstDash val="solid"/>
          </a:ln>
        </p:spPr>
      </p:sp>
      <p:sp>
        <p:nvSpPr>
          <p:cNvPr id="14" name="Text 12"/>
          <p:cNvSpPr/>
          <p:nvPr/>
        </p:nvSpPr>
        <p:spPr>
          <a:xfrm>
            <a:off x="4754880" y="1161288"/>
            <a:ext cx="502920" cy="384048"/>
          </a:xfrm>
          <a:prstGeom prst="rect">
            <a:avLst/>
          </a:prstGeom>
          <a:noFill/>
        </p:spPr>
        <p:txBody>
          <a:bodyPr wrap="square" rtlCol="0" anchor="ctr"/>
          <a:lstStyle/>
          <a:p>
            <a:pPr marL="0" indent="0" algn="ctr">
              <a:buNone/>
            </a:pPr>
            <a:r>
              <a:rPr lang="en-US" sz="1800" b="1" dirty="0">
                <a:solidFill>
                  <a:srgbClr val="C9A84C"/>
                </a:solidFill>
                <a:latin typeface="Calibri" panose="020F0502020204030204" pitchFamily="34" charset="0"/>
                <a:ea typeface="Calibri" panose="020F0502020204030204" pitchFamily="34" charset="-122"/>
                <a:cs typeface="Calibri" panose="020F0502020204030204" pitchFamily="34" charset="-120"/>
              </a:rPr>
              <a:t>2</a:t>
            </a:r>
            <a:endParaRPr lang="en-US" sz="1800" dirty="0"/>
          </a:p>
        </p:txBody>
      </p:sp>
      <p:sp>
        <p:nvSpPr>
          <p:cNvPr id="15" name="Text 13"/>
          <p:cNvSpPr/>
          <p:nvPr/>
        </p:nvSpPr>
        <p:spPr>
          <a:xfrm>
            <a:off x="5394960" y="1188720"/>
            <a:ext cx="3383280" cy="347472"/>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Digital Record Keeping</a:t>
            </a:r>
            <a:endParaRPr lang="en-US" sz="1300" dirty="0"/>
          </a:p>
        </p:txBody>
      </p:sp>
      <p:sp>
        <p:nvSpPr>
          <p:cNvPr id="16" name="Text 14"/>
          <p:cNvSpPr/>
          <p:nvPr/>
        </p:nvSpPr>
        <p:spPr>
          <a:xfrm>
            <a:off x="4937760" y="1645920"/>
            <a:ext cx="3840480" cy="960120"/>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Provide teachers with a digital tool to upload and manage student grades via Excel files, reducing manual paperwork.</a:t>
            </a:r>
            <a:endParaRPr lang="en-US" sz="1200" dirty="0"/>
          </a:p>
        </p:txBody>
      </p:sp>
      <p:sp>
        <p:nvSpPr>
          <p:cNvPr id="17" name="Shape 15"/>
          <p:cNvSpPr/>
          <p:nvPr/>
        </p:nvSpPr>
        <p:spPr>
          <a:xfrm>
            <a:off x="274320" y="2880360"/>
            <a:ext cx="4160520" cy="1645920"/>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8" name="Shape 16"/>
          <p:cNvSpPr/>
          <p:nvPr/>
        </p:nvSpPr>
        <p:spPr>
          <a:xfrm>
            <a:off x="274320" y="2880360"/>
            <a:ext cx="91440" cy="1645920"/>
          </a:xfrm>
          <a:prstGeom prst="rect">
            <a:avLst/>
          </a:prstGeom>
          <a:solidFill>
            <a:srgbClr val="C9A84C"/>
          </a:solidFill>
          <a:ln w="12700">
            <a:solidFill>
              <a:srgbClr val="C9A84C"/>
            </a:solidFill>
            <a:prstDash val="solid"/>
          </a:ln>
        </p:spPr>
      </p:sp>
      <p:sp>
        <p:nvSpPr>
          <p:cNvPr id="19" name="Shape 17"/>
          <p:cNvSpPr/>
          <p:nvPr/>
        </p:nvSpPr>
        <p:spPr>
          <a:xfrm>
            <a:off x="274320" y="2880360"/>
            <a:ext cx="502920" cy="502920"/>
          </a:xfrm>
          <a:prstGeom prst="rect">
            <a:avLst/>
          </a:prstGeom>
          <a:solidFill>
            <a:srgbClr val="6B0F1A"/>
          </a:solidFill>
          <a:ln w="12700">
            <a:solidFill>
              <a:srgbClr val="6B0F1A"/>
            </a:solidFill>
            <a:prstDash val="solid"/>
          </a:ln>
        </p:spPr>
      </p:sp>
      <p:sp>
        <p:nvSpPr>
          <p:cNvPr id="20" name="Text 18"/>
          <p:cNvSpPr/>
          <p:nvPr/>
        </p:nvSpPr>
        <p:spPr>
          <a:xfrm>
            <a:off x="274320" y="2944368"/>
            <a:ext cx="502920" cy="384048"/>
          </a:xfrm>
          <a:prstGeom prst="rect">
            <a:avLst/>
          </a:prstGeom>
          <a:noFill/>
        </p:spPr>
        <p:txBody>
          <a:bodyPr wrap="square" rtlCol="0" anchor="ctr"/>
          <a:lstStyle/>
          <a:p>
            <a:pPr marL="0" indent="0" algn="ctr">
              <a:buNone/>
            </a:pPr>
            <a:r>
              <a:rPr lang="en-US" sz="1800" b="1" dirty="0">
                <a:solidFill>
                  <a:srgbClr val="C9A84C"/>
                </a:solidFill>
                <a:latin typeface="Calibri" panose="020F0502020204030204" pitchFamily="34" charset="0"/>
                <a:ea typeface="Calibri" panose="020F0502020204030204" pitchFamily="34" charset="-122"/>
                <a:cs typeface="Calibri" panose="020F0502020204030204" pitchFamily="34" charset="-120"/>
              </a:rPr>
              <a:t>3</a:t>
            </a:r>
            <a:endParaRPr lang="en-US" sz="1800" dirty="0"/>
          </a:p>
        </p:txBody>
      </p:sp>
      <p:sp>
        <p:nvSpPr>
          <p:cNvPr id="21" name="Text 19"/>
          <p:cNvSpPr/>
          <p:nvPr/>
        </p:nvSpPr>
        <p:spPr>
          <a:xfrm>
            <a:off x="914400" y="2971800"/>
            <a:ext cx="3383280" cy="347472"/>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Real-Time Access for Parents</a:t>
            </a:r>
            <a:endParaRPr lang="en-US" sz="1300" dirty="0"/>
          </a:p>
        </p:txBody>
      </p:sp>
      <p:sp>
        <p:nvSpPr>
          <p:cNvPr id="22" name="Text 20"/>
          <p:cNvSpPr/>
          <p:nvPr/>
        </p:nvSpPr>
        <p:spPr>
          <a:xfrm>
            <a:off x="457200" y="3429000"/>
            <a:ext cx="3840480" cy="960120"/>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Give parents instant, real-time access to their child's grades through a secure personal account on the portal.</a:t>
            </a:r>
            <a:endParaRPr lang="en-US" sz="1200" dirty="0"/>
          </a:p>
        </p:txBody>
      </p:sp>
      <p:sp>
        <p:nvSpPr>
          <p:cNvPr id="23" name="Shape 21"/>
          <p:cNvSpPr/>
          <p:nvPr/>
        </p:nvSpPr>
        <p:spPr>
          <a:xfrm>
            <a:off x="4754880" y="2880360"/>
            <a:ext cx="4160520" cy="1645920"/>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24" name="Shape 22"/>
          <p:cNvSpPr/>
          <p:nvPr/>
        </p:nvSpPr>
        <p:spPr>
          <a:xfrm>
            <a:off x="4754880" y="2880360"/>
            <a:ext cx="91440" cy="1645920"/>
          </a:xfrm>
          <a:prstGeom prst="rect">
            <a:avLst/>
          </a:prstGeom>
          <a:solidFill>
            <a:srgbClr val="C9A84C"/>
          </a:solidFill>
          <a:ln w="12700">
            <a:solidFill>
              <a:srgbClr val="C9A84C"/>
            </a:solidFill>
            <a:prstDash val="solid"/>
          </a:ln>
        </p:spPr>
      </p:sp>
      <p:sp>
        <p:nvSpPr>
          <p:cNvPr id="25" name="Shape 23"/>
          <p:cNvSpPr/>
          <p:nvPr/>
        </p:nvSpPr>
        <p:spPr>
          <a:xfrm>
            <a:off x="4754880" y="2880360"/>
            <a:ext cx="502920" cy="502920"/>
          </a:xfrm>
          <a:prstGeom prst="rect">
            <a:avLst/>
          </a:prstGeom>
          <a:solidFill>
            <a:srgbClr val="6B0F1A"/>
          </a:solidFill>
          <a:ln w="12700">
            <a:solidFill>
              <a:srgbClr val="6B0F1A"/>
            </a:solidFill>
            <a:prstDash val="solid"/>
          </a:ln>
        </p:spPr>
      </p:sp>
      <p:sp>
        <p:nvSpPr>
          <p:cNvPr id="26" name="Text 24"/>
          <p:cNvSpPr/>
          <p:nvPr/>
        </p:nvSpPr>
        <p:spPr>
          <a:xfrm>
            <a:off x="4754880" y="2944368"/>
            <a:ext cx="502920" cy="384048"/>
          </a:xfrm>
          <a:prstGeom prst="rect">
            <a:avLst/>
          </a:prstGeom>
          <a:noFill/>
        </p:spPr>
        <p:txBody>
          <a:bodyPr wrap="square" rtlCol="0" anchor="ctr"/>
          <a:lstStyle/>
          <a:p>
            <a:pPr marL="0" indent="0" algn="ctr">
              <a:buNone/>
            </a:pPr>
            <a:r>
              <a:rPr lang="en-US" sz="1800" b="1" dirty="0">
                <a:solidFill>
                  <a:srgbClr val="C9A84C"/>
                </a:solidFill>
                <a:latin typeface="Calibri" panose="020F0502020204030204" pitchFamily="34" charset="0"/>
                <a:ea typeface="Calibri" panose="020F0502020204030204" pitchFamily="34" charset="-122"/>
                <a:cs typeface="Calibri" panose="020F0502020204030204" pitchFamily="34" charset="-120"/>
              </a:rPr>
              <a:t>4</a:t>
            </a:r>
            <a:endParaRPr lang="en-US" sz="1800" dirty="0"/>
          </a:p>
        </p:txBody>
      </p:sp>
      <p:sp>
        <p:nvSpPr>
          <p:cNvPr id="27" name="Text 25"/>
          <p:cNvSpPr/>
          <p:nvPr/>
        </p:nvSpPr>
        <p:spPr>
          <a:xfrm>
            <a:off x="5394960" y="2971800"/>
            <a:ext cx="3383280" cy="347472"/>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Performance Monitoring</a:t>
            </a:r>
            <a:endParaRPr lang="en-US" sz="1300" dirty="0"/>
          </a:p>
        </p:txBody>
      </p:sp>
      <p:sp>
        <p:nvSpPr>
          <p:cNvPr id="28" name="Text 26"/>
          <p:cNvSpPr/>
          <p:nvPr/>
        </p:nvSpPr>
        <p:spPr>
          <a:xfrm>
            <a:off x="4937760" y="3429000"/>
            <a:ext cx="3840480" cy="960120"/>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Allow parents  to monitor whether a his/her student performance is improving or declining across grading periods.</a:t>
            </a:r>
            <a:endParaRPr lang="en-US" sz="1200" dirty="0"/>
          </a:p>
        </p:txBody>
      </p:sp>
      <p:sp>
        <p:nvSpPr>
          <p:cNvPr id="29" name="Shape 27"/>
          <p:cNvSpPr/>
          <p:nvPr/>
        </p:nvSpPr>
        <p:spPr>
          <a:xfrm>
            <a:off x="0" y="4956048"/>
            <a:ext cx="9144000" cy="182880"/>
          </a:xfrm>
          <a:prstGeom prst="rect">
            <a:avLst/>
          </a:prstGeom>
          <a:solidFill>
            <a:srgbClr val="3B0009"/>
          </a:solidFill>
          <a:ln w="12700">
            <a:solidFill>
              <a:srgbClr val="3B0009"/>
            </a:solidFill>
            <a:prstDash val="solid"/>
          </a:ln>
        </p:spPr>
      </p:sp>
      <p:sp>
        <p:nvSpPr>
          <p:cNvPr id="30" name="Text 28"/>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A1020"/>
          </a:solidFill>
          <a:ln w="12700">
            <a:solidFill>
              <a:srgbClr val="7A1020"/>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Scope &amp; Limitations</a:t>
            </a:r>
            <a:endParaRPr lang="en-US" sz="2800" dirty="0"/>
          </a:p>
        </p:txBody>
      </p:sp>
      <p:sp>
        <p:nvSpPr>
          <p:cNvPr id="4" name="Shape 2"/>
          <p:cNvSpPr/>
          <p:nvPr/>
        </p:nvSpPr>
        <p:spPr>
          <a:xfrm>
            <a:off x="320040" y="850392"/>
            <a:ext cx="4069080" cy="3913632"/>
          </a:xfrm>
          <a:prstGeom prst="rect">
            <a:avLst/>
          </a:prstGeom>
          <a:solidFill>
            <a:srgbClr val="6B0F1A"/>
          </a:solidFill>
          <a:ln w="12700">
            <a:solidFill>
              <a:srgbClr val="6B0F1A"/>
            </a:solidFill>
            <a:prstDash val="solid"/>
          </a:ln>
        </p:spPr>
      </p:sp>
      <p:sp>
        <p:nvSpPr>
          <p:cNvPr id="5" name="Text 3"/>
          <p:cNvSpPr/>
          <p:nvPr/>
        </p:nvSpPr>
        <p:spPr>
          <a:xfrm>
            <a:off x="457200" y="960120"/>
            <a:ext cx="3794760" cy="365760"/>
          </a:xfrm>
          <a:prstGeom prst="rect">
            <a:avLst/>
          </a:prstGeom>
          <a:noFill/>
        </p:spPr>
        <p:txBody>
          <a:bodyPr wrap="square" rtlCol="0" anchor="ctr"/>
          <a:lstStyle/>
          <a:p>
            <a:pPr marL="0" indent="0">
              <a:buNone/>
            </a:pPr>
            <a:r>
              <a:rPr lang="en-US" sz="1500" b="1" dirty="0">
                <a:solidFill>
                  <a:srgbClr val="C9A84C"/>
                </a:solidFill>
                <a:latin typeface="Calibri" panose="020F0502020204030204" pitchFamily="34" charset="0"/>
                <a:ea typeface="Calibri" panose="020F0502020204030204" pitchFamily="34" charset="-122"/>
                <a:cs typeface="Calibri" panose="020F0502020204030204" pitchFamily="34" charset="-120"/>
              </a:rPr>
              <a:t>SCOPE</a:t>
            </a:r>
            <a:endParaRPr lang="en-US" sz="1500" dirty="0"/>
          </a:p>
        </p:txBody>
      </p:sp>
      <p:sp>
        <p:nvSpPr>
          <p:cNvPr id="6" name="Text 4"/>
          <p:cNvSpPr/>
          <p:nvPr/>
        </p:nvSpPr>
        <p:spPr>
          <a:xfrm>
            <a:off x="457200" y="1417320"/>
            <a:ext cx="3794760" cy="3108960"/>
          </a:xfrm>
          <a:prstGeom prst="rect">
            <a:avLst/>
          </a:prstGeom>
          <a:noFill/>
        </p:spPr>
        <p:txBody>
          <a:bodyPr wrap="square" rtlCol="0" anchor="ctr"/>
          <a:lstStyle/>
          <a:p>
            <a:pPr marL="342900" indent="-3429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Teachers can upload grades via Excel files for parents to view on the portal.</a:t>
            </a:r>
            <a:endParaRPr lang="en-US" sz="1200" dirty="0"/>
          </a:p>
          <a:p>
            <a:pPr marL="342900" indent="-3429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Parent accounts are tied to their child's existing school records.</a:t>
            </a:r>
            <a:endParaRPr lang="en-US" sz="1200" dirty="0"/>
          </a:p>
          <a:p>
            <a:pPr marL="342900" indent="-3429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Parents can view grades per subject and per grading period.</a:t>
            </a:r>
            <a:endParaRPr lang="en-US" sz="1200" dirty="0"/>
          </a:p>
          <a:p>
            <a:pPr marL="342900" indent="-3429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The Admin manages all user account creation to ensure only school-registered users have access.</a:t>
            </a:r>
            <a:endParaRPr lang="en-US" sz="1200" dirty="0"/>
          </a:p>
          <a:p>
            <a:pPr marL="342900" indent="-342900">
              <a:spcAft>
                <a:spcPts val="8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The system provides real-time update after every task made by teachers and admins.</a:t>
            </a:r>
            <a:endParaRPr lang="en-US" sz="1200" dirty="0"/>
          </a:p>
        </p:txBody>
      </p:sp>
      <p:sp>
        <p:nvSpPr>
          <p:cNvPr id="7" name="Shape 5"/>
          <p:cNvSpPr/>
          <p:nvPr/>
        </p:nvSpPr>
        <p:spPr>
          <a:xfrm>
            <a:off x="4663440" y="850392"/>
            <a:ext cx="4160520" cy="3913632"/>
          </a:xfrm>
          <a:prstGeom prst="rect">
            <a:avLst/>
          </a:prstGeom>
          <a:solidFill>
            <a:srgbClr val="FFFFFF"/>
          </a:solidFill>
          <a:ln w="12700">
            <a:solidFill>
              <a:srgbClr val="E8C5C8"/>
            </a:solidFill>
            <a:prstDash val="solid"/>
          </a:ln>
        </p:spPr>
      </p:sp>
      <p:sp>
        <p:nvSpPr>
          <p:cNvPr id="8" name="Text 6"/>
          <p:cNvSpPr/>
          <p:nvPr/>
        </p:nvSpPr>
        <p:spPr>
          <a:xfrm>
            <a:off x="4800600" y="960120"/>
            <a:ext cx="3840480" cy="365760"/>
          </a:xfrm>
          <a:prstGeom prst="rect">
            <a:avLst/>
          </a:prstGeom>
          <a:noFill/>
        </p:spPr>
        <p:txBody>
          <a:bodyPr wrap="square" rtlCol="0" anchor="ctr"/>
          <a:lstStyle/>
          <a:p>
            <a:pPr marL="0" indent="0">
              <a:buNone/>
            </a:pPr>
            <a:r>
              <a:rPr lang="en-US" sz="1500" b="1" dirty="0">
                <a:solidFill>
                  <a:srgbClr val="6B0F1A"/>
                </a:solidFill>
                <a:latin typeface="Calibri" panose="020F0502020204030204" pitchFamily="34" charset="0"/>
                <a:ea typeface="Calibri" panose="020F0502020204030204" pitchFamily="34" charset="-122"/>
                <a:cs typeface="Calibri" panose="020F0502020204030204" pitchFamily="34" charset="-120"/>
              </a:rPr>
              <a:t>LIMITATIONS</a:t>
            </a:r>
            <a:endParaRPr lang="en-US" sz="1500" dirty="0"/>
          </a:p>
        </p:txBody>
      </p:sp>
      <p:sp>
        <p:nvSpPr>
          <p:cNvPr id="9" name="Text 7"/>
          <p:cNvSpPr/>
          <p:nvPr/>
        </p:nvSpPr>
        <p:spPr>
          <a:xfrm>
            <a:off x="4800600" y="1417320"/>
            <a:ext cx="3886200" cy="3108960"/>
          </a:xfrm>
          <a:prstGeom prst="rect">
            <a:avLst/>
          </a:prstGeom>
          <a:noFill/>
        </p:spPr>
        <p:txBody>
          <a:bodyPr wrap="square" rtlCol="0" anchor="ctr"/>
          <a:lstStyle/>
          <a:p>
            <a:pPr marL="342900" indent="-342900">
              <a:spcAft>
                <a:spcPts val="800"/>
              </a:spcAft>
              <a:buSzPct val="100000"/>
              <a:buChar char="•"/>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Requires an active internet connection — the system cannot be accessed offline.</a:t>
            </a:r>
            <a:endParaRPr lang="en-US" sz="1200" dirty="0"/>
          </a:p>
          <a:p>
            <a:pPr marL="342900" indent="-342900">
              <a:spcAft>
                <a:spcPts val="800"/>
              </a:spcAft>
              <a:buSzPct val="100000"/>
              <a:buChar char="•"/>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Only users with existing school records can be registered; no self-registration.</a:t>
            </a:r>
            <a:endParaRPr lang="en-US" sz="1200" dirty="0"/>
          </a:p>
          <a:p>
            <a:pPr marL="342900" indent="-342900">
              <a:spcAft>
                <a:spcPts val="800"/>
              </a:spcAft>
              <a:buSzPct val="100000"/>
              <a:buChar char="•"/>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The system acts as a supplementary tool only — it does not replace direct communication between parents and teachers.</a:t>
            </a:r>
            <a:endParaRPr lang="en-US" sz="1200" dirty="0"/>
          </a:p>
          <a:p>
            <a:pPr marL="342900" indent="-342900">
              <a:spcAft>
                <a:spcPts val="800"/>
              </a:spcAft>
              <a:buSzPct val="100000"/>
              <a:buChar char="•"/>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Grade upload is limited to Excel file format provided by the system.</a:t>
            </a:r>
            <a:endParaRPr lang="en-US" sz="1200" dirty="0"/>
          </a:p>
        </p:txBody>
      </p:sp>
      <p:sp>
        <p:nvSpPr>
          <p:cNvPr id="10" name="Shape 8"/>
          <p:cNvSpPr/>
          <p:nvPr/>
        </p:nvSpPr>
        <p:spPr>
          <a:xfrm>
            <a:off x="0" y="4956048"/>
            <a:ext cx="9144000" cy="182880"/>
          </a:xfrm>
          <a:prstGeom prst="rect">
            <a:avLst/>
          </a:prstGeom>
          <a:solidFill>
            <a:srgbClr val="3B0009"/>
          </a:solidFill>
          <a:ln w="12700">
            <a:solidFill>
              <a:srgbClr val="3B0009"/>
            </a:solidFill>
            <a:prstDash val="solid"/>
          </a:ln>
        </p:spPr>
      </p:sp>
      <p:sp>
        <p:nvSpPr>
          <p:cNvPr id="11" name="Text 9"/>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Chapter 2: Review of Related Literature</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Shape 3"/>
          <p:cNvSpPr/>
          <p:nvPr/>
        </p:nvSpPr>
        <p:spPr>
          <a:xfrm>
            <a:off x="320040" y="1078992"/>
            <a:ext cx="8503920" cy="1234440"/>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6" name="Shape 4"/>
          <p:cNvSpPr/>
          <p:nvPr/>
        </p:nvSpPr>
        <p:spPr>
          <a:xfrm>
            <a:off x="320040" y="1078992"/>
            <a:ext cx="91440" cy="1234440"/>
          </a:xfrm>
          <a:prstGeom prst="rect">
            <a:avLst/>
          </a:prstGeom>
          <a:solidFill>
            <a:srgbClr val="C9A84C"/>
          </a:solidFill>
          <a:ln w="12700">
            <a:solidFill>
              <a:srgbClr val="C9A84C"/>
            </a:solidFill>
            <a:prstDash val="solid"/>
          </a:ln>
        </p:spPr>
      </p:sp>
      <p:sp>
        <p:nvSpPr>
          <p:cNvPr id="7" name="Shape 5"/>
          <p:cNvSpPr/>
          <p:nvPr/>
        </p:nvSpPr>
        <p:spPr>
          <a:xfrm>
            <a:off x="320040" y="1078992"/>
            <a:ext cx="960120" cy="347472"/>
          </a:xfrm>
          <a:prstGeom prst="rect">
            <a:avLst/>
          </a:prstGeom>
          <a:solidFill>
            <a:srgbClr val="6B0F1A"/>
          </a:solidFill>
          <a:ln w="12700">
            <a:solidFill>
              <a:srgbClr val="6B0F1A"/>
            </a:solidFill>
            <a:prstDash val="solid"/>
          </a:ln>
        </p:spPr>
      </p:sp>
      <p:sp>
        <p:nvSpPr>
          <p:cNvPr id="8" name="Text 6"/>
          <p:cNvSpPr/>
          <p:nvPr/>
        </p:nvSpPr>
        <p:spPr>
          <a:xfrm>
            <a:off x="320040" y="1124712"/>
            <a:ext cx="960120" cy="256032"/>
          </a:xfrm>
          <a:prstGeom prst="rect">
            <a:avLst/>
          </a:prstGeom>
          <a:noFill/>
        </p:spPr>
        <p:txBody>
          <a:bodyPr wrap="square" rtlCol="0" anchor="ctr"/>
          <a:lstStyle/>
          <a:p>
            <a:pPr marL="0" indent="0" algn="ctr">
              <a:buNone/>
            </a:pPr>
            <a:r>
              <a:rPr lang="en-US" sz="900" b="1" dirty="0">
                <a:solidFill>
                  <a:srgbClr val="C9A84C"/>
                </a:solidFill>
                <a:latin typeface="Calibri" panose="020F0502020204030204" pitchFamily="34" charset="0"/>
                <a:ea typeface="Calibri" panose="020F0502020204030204" pitchFamily="34" charset="-122"/>
                <a:cs typeface="Calibri" panose="020F0502020204030204" pitchFamily="34" charset="-120"/>
              </a:rPr>
              <a:t>LOCAL</a:t>
            </a:r>
            <a:endParaRPr lang="en-US" sz="900" dirty="0"/>
          </a:p>
        </p:txBody>
      </p:sp>
      <p:sp>
        <p:nvSpPr>
          <p:cNvPr id="9" name="Text 7"/>
          <p:cNvSpPr/>
          <p:nvPr/>
        </p:nvSpPr>
        <p:spPr>
          <a:xfrm>
            <a:off x="502920" y="1472184"/>
            <a:ext cx="8229600" cy="274320"/>
          </a:xfrm>
          <a:prstGeom prst="rect">
            <a:avLst/>
          </a:prstGeom>
          <a:noFill/>
        </p:spPr>
        <p:txBody>
          <a:bodyPr wrap="square" rtlCol="0" anchor="ctr"/>
          <a:lstStyle/>
          <a:p>
            <a:pPr marL="0" indent="0">
              <a:buNone/>
            </a:pPr>
            <a:r>
              <a:rPr lang="en-US" sz="1200" b="1" dirty="0">
                <a:solidFill>
                  <a:srgbClr val="6B0F1A"/>
                </a:solidFill>
                <a:latin typeface="Calibri" panose="020F0502020204030204" pitchFamily="34" charset="0"/>
                <a:ea typeface="Calibri" panose="020F0502020204030204" pitchFamily="34" charset="-122"/>
                <a:cs typeface="Calibri" panose="020F0502020204030204" pitchFamily="34" charset="-120"/>
              </a:rPr>
              <a:t>Mobile-Web Responsive Portal — St. John Paul II College of Davao</a:t>
            </a:r>
            <a:endParaRPr lang="en-US" sz="1200" dirty="0"/>
          </a:p>
        </p:txBody>
      </p:sp>
      <p:sp>
        <p:nvSpPr>
          <p:cNvPr id="10" name="Text 8"/>
          <p:cNvSpPr/>
          <p:nvPr/>
        </p:nvSpPr>
        <p:spPr>
          <a:xfrm>
            <a:off x="502920" y="1764792"/>
            <a:ext cx="8138160" cy="475488"/>
          </a:xfrm>
          <a:prstGeom prst="rect">
            <a:avLst/>
          </a:prstGeom>
          <a:noFill/>
        </p:spPr>
        <p:txBody>
          <a:bodyPr wrap="square" rtlCol="0" anchor="ctr"/>
          <a:lstStyle/>
          <a:p>
            <a:pPr marL="0" indent="0">
              <a:buNone/>
            </a:pPr>
            <a:r>
              <a:rPr lang="en-US" sz="1100" dirty="0">
                <a:solidFill>
                  <a:srgbClr val="2E0A10"/>
                </a:solidFill>
                <a:latin typeface="Calibri" panose="020F0502020204030204" pitchFamily="34" charset="0"/>
                <a:ea typeface="Calibri" panose="020F0502020204030204" pitchFamily="34" charset="-122"/>
                <a:cs typeface="Calibri" panose="020F0502020204030204" pitchFamily="34" charset="-120"/>
              </a:rPr>
              <a:t>This study showed that using a mobile-web responsive portal with predictive analytics (CART) improved productivity and user satisfaction for both students and staff. It confirms that accessible online systems lead to faster service delivery — directly supporting the need for a mobile-responsive grade portal for parents in Bunawan Aplaya.</a:t>
            </a:r>
            <a:endParaRPr lang="en-US" sz="1100" dirty="0"/>
          </a:p>
        </p:txBody>
      </p:sp>
      <p:sp>
        <p:nvSpPr>
          <p:cNvPr id="11" name="Shape 9"/>
          <p:cNvSpPr/>
          <p:nvPr/>
        </p:nvSpPr>
        <p:spPr>
          <a:xfrm>
            <a:off x="320040" y="2358263"/>
            <a:ext cx="8503920" cy="1234440"/>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2" name="Shape 10"/>
          <p:cNvSpPr/>
          <p:nvPr/>
        </p:nvSpPr>
        <p:spPr>
          <a:xfrm>
            <a:off x="320040" y="2361438"/>
            <a:ext cx="91440" cy="1234440"/>
          </a:xfrm>
          <a:prstGeom prst="rect">
            <a:avLst/>
          </a:prstGeom>
          <a:solidFill>
            <a:srgbClr val="C9A84C"/>
          </a:solidFill>
          <a:ln w="12700">
            <a:solidFill>
              <a:srgbClr val="C9A84C"/>
            </a:solidFill>
            <a:prstDash val="solid"/>
          </a:ln>
        </p:spPr>
        <p:txBody>
          <a:bodyPr/>
          <a:p>
            <a:endParaRPr lang="en-US"/>
          </a:p>
        </p:txBody>
      </p:sp>
      <p:sp>
        <p:nvSpPr>
          <p:cNvPr id="13" name="Shape 11"/>
          <p:cNvSpPr/>
          <p:nvPr/>
        </p:nvSpPr>
        <p:spPr>
          <a:xfrm>
            <a:off x="320040" y="2358263"/>
            <a:ext cx="960120" cy="347472"/>
          </a:xfrm>
          <a:prstGeom prst="rect">
            <a:avLst/>
          </a:prstGeom>
          <a:solidFill>
            <a:srgbClr val="6B0F1A"/>
          </a:solidFill>
          <a:ln w="12700">
            <a:solidFill>
              <a:srgbClr val="6B0F1A"/>
            </a:solidFill>
            <a:prstDash val="solid"/>
          </a:ln>
        </p:spPr>
      </p:sp>
      <p:sp>
        <p:nvSpPr>
          <p:cNvPr id="14" name="Text 12"/>
          <p:cNvSpPr/>
          <p:nvPr/>
        </p:nvSpPr>
        <p:spPr>
          <a:xfrm>
            <a:off x="320040" y="2404618"/>
            <a:ext cx="960120" cy="256032"/>
          </a:xfrm>
          <a:prstGeom prst="rect">
            <a:avLst/>
          </a:prstGeom>
          <a:noFill/>
        </p:spPr>
        <p:txBody>
          <a:bodyPr wrap="square" rtlCol="0" anchor="ctr"/>
          <a:lstStyle/>
          <a:p>
            <a:pPr marL="0" indent="0" algn="ctr">
              <a:buNone/>
            </a:pPr>
            <a:r>
              <a:rPr lang="en-US" sz="900" b="1" dirty="0">
                <a:solidFill>
                  <a:srgbClr val="C9A84C"/>
                </a:solidFill>
                <a:latin typeface="Calibri" panose="020F0502020204030204" pitchFamily="34" charset="0"/>
                <a:ea typeface="Calibri" panose="020F0502020204030204" pitchFamily="34" charset="-122"/>
                <a:cs typeface="Calibri" panose="020F0502020204030204" pitchFamily="34" charset="-120"/>
              </a:rPr>
              <a:t>NATIONAL</a:t>
            </a:r>
            <a:endParaRPr lang="en-US" sz="900" dirty="0"/>
          </a:p>
        </p:txBody>
      </p:sp>
      <p:sp>
        <p:nvSpPr>
          <p:cNvPr id="15" name="Text 13"/>
          <p:cNvSpPr/>
          <p:nvPr/>
        </p:nvSpPr>
        <p:spPr>
          <a:xfrm>
            <a:off x="502920" y="2750820"/>
            <a:ext cx="8229600" cy="274320"/>
          </a:xfrm>
          <a:prstGeom prst="rect">
            <a:avLst/>
          </a:prstGeom>
          <a:noFill/>
        </p:spPr>
        <p:txBody>
          <a:bodyPr wrap="square" rtlCol="0" anchor="ctr"/>
          <a:lstStyle/>
          <a:p>
            <a:pPr marL="0" indent="0">
              <a:buNone/>
            </a:pPr>
            <a:r>
              <a:rPr lang="en-US" sz="1200" b="1" dirty="0">
                <a:solidFill>
                  <a:srgbClr val="6B0F1A"/>
                </a:solidFill>
                <a:latin typeface="Calibri" panose="020F0502020204030204" pitchFamily="34" charset="0"/>
                <a:ea typeface="Calibri" panose="020F0502020204030204" pitchFamily="34" charset="-122"/>
                <a:cs typeface="Calibri" panose="020F0502020204030204" pitchFamily="34" charset="-120"/>
              </a:rPr>
              <a:t>Grade Viewer Application — Taganaan National High School</a:t>
            </a:r>
            <a:endParaRPr lang="en-US" sz="1200" dirty="0"/>
          </a:p>
        </p:txBody>
      </p:sp>
      <p:sp>
        <p:nvSpPr>
          <p:cNvPr id="16" name="Text 14"/>
          <p:cNvSpPr/>
          <p:nvPr/>
        </p:nvSpPr>
        <p:spPr>
          <a:xfrm>
            <a:off x="502920" y="2989453"/>
            <a:ext cx="8138160" cy="475488"/>
          </a:xfrm>
          <a:prstGeom prst="rect">
            <a:avLst/>
          </a:prstGeom>
          <a:noFill/>
        </p:spPr>
        <p:txBody>
          <a:bodyPr wrap="square" rtlCol="0" anchor="ctr"/>
          <a:lstStyle/>
          <a:p>
            <a:pPr marL="0" indent="0">
              <a:buNone/>
            </a:pPr>
            <a:r>
              <a:rPr lang="en-US" sz="1100" dirty="0">
                <a:solidFill>
                  <a:srgbClr val="2E0A10"/>
                </a:solidFill>
                <a:latin typeface="Calibri" panose="020F0502020204030204" pitchFamily="34" charset="0"/>
                <a:ea typeface="Calibri" panose="020F0502020204030204" pitchFamily="34" charset="-122"/>
                <a:cs typeface="Calibri" panose="020F0502020204030204" pitchFamily="34" charset="-120"/>
              </a:rPr>
              <a:t>Research by Perfecto R. Ruaya Jr. (2023) found that parent involvement is crucial for student academic growth. A grade viewing app bridges the gap between parents and teachers. Children perform better when they know they are being monitored — reinforcing the value of giving parents real-time grade access.</a:t>
            </a:r>
            <a:endParaRPr lang="en-US" sz="1100" dirty="0"/>
          </a:p>
        </p:txBody>
      </p:sp>
      <p:sp>
        <p:nvSpPr>
          <p:cNvPr id="17" name="Shape 15"/>
          <p:cNvSpPr/>
          <p:nvPr/>
        </p:nvSpPr>
        <p:spPr>
          <a:xfrm>
            <a:off x="320040" y="3659124"/>
            <a:ext cx="8503920" cy="1234440"/>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8" name="Shape 16"/>
          <p:cNvSpPr/>
          <p:nvPr/>
        </p:nvSpPr>
        <p:spPr>
          <a:xfrm>
            <a:off x="320040" y="3659124"/>
            <a:ext cx="91440" cy="1234440"/>
          </a:xfrm>
          <a:prstGeom prst="rect">
            <a:avLst/>
          </a:prstGeom>
          <a:solidFill>
            <a:srgbClr val="C9A84C"/>
          </a:solidFill>
          <a:ln w="12700">
            <a:solidFill>
              <a:srgbClr val="C9A84C"/>
            </a:solidFill>
            <a:prstDash val="solid"/>
          </a:ln>
        </p:spPr>
      </p:sp>
      <p:sp>
        <p:nvSpPr>
          <p:cNvPr id="19" name="Shape 17"/>
          <p:cNvSpPr/>
          <p:nvPr/>
        </p:nvSpPr>
        <p:spPr>
          <a:xfrm>
            <a:off x="320040" y="3644519"/>
            <a:ext cx="960120" cy="347472"/>
          </a:xfrm>
          <a:prstGeom prst="rect">
            <a:avLst/>
          </a:prstGeom>
          <a:solidFill>
            <a:srgbClr val="6B0F1A"/>
          </a:solidFill>
          <a:ln w="12700">
            <a:solidFill>
              <a:srgbClr val="6B0F1A"/>
            </a:solidFill>
            <a:prstDash val="solid"/>
          </a:ln>
        </p:spPr>
      </p:sp>
      <p:sp>
        <p:nvSpPr>
          <p:cNvPr id="20" name="Text 18"/>
          <p:cNvSpPr/>
          <p:nvPr/>
        </p:nvSpPr>
        <p:spPr>
          <a:xfrm>
            <a:off x="274320" y="3680460"/>
            <a:ext cx="1097915" cy="255905"/>
          </a:xfrm>
          <a:prstGeom prst="rect">
            <a:avLst/>
          </a:prstGeom>
          <a:noFill/>
        </p:spPr>
        <p:txBody>
          <a:bodyPr wrap="square" rtlCol="0" anchor="ctr"/>
          <a:lstStyle/>
          <a:p>
            <a:pPr marL="0" indent="0" algn="ctr">
              <a:buNone/>
            </a:pPr>
            <a:r>
              <a:rPr lang="en-US" sz="900" b="1" dirty="0">
                <a:solidFill>
                  <a:srgbClr val="C9A84C"/>
                </a:solidFill>
                <a:latin typeface="Calibri" panose="020F0502020204030204" pitchFamily="34" charset="0"/>
                <a:ea typeface="Calibri" panose="020F0502020204030204" pitchFamily="34" charset="-122"/>
                <a:cs typeface="Calibri" panose="020F0502020204030204" pitchFamily="34" charset="-120"/>
              </a:rPr>
              <a:t>INTERNATIONAL</a:t>
            </a:r>
            <a:endParaRPr lang="en-US" sz="900" dirty="0"/>
          </a:p>
        </p:txBody>
      </p:sp>
      <p:sp>
        <p:nvSpPr>
          <p:cNvPr id="21" name="Text 19"/>
          <p:cNvSpPr/>
          <p:nvPr/>
        </p:nvSpPr>
        <p:spPr>
          <a:xfrm>
            <a:off x="502920" y="4029456"/>
            <a:ext cx="8229600" cy="274320"/>
          </a:xfrm>
          <a:prstGeom prst="rect">
            <a:avLst/>
          </a:prstGeom>
          <a:noFill/>
        </p:spPr>
        <p:txBody>
          <a:bodyPr wrap="square" rtlCol="0" anchor="ctr"/>
          <a:lstStyle/>
          <a:p>
            <a:pPr marL="0" indent="0">
              <a:buNone/>
            </a:pPr>
            <a:r>
              <a:rPr lang="en-US" sz="1200" b="1" dirty="0">
                <a:solidFill>
                  <a:srgbClr val="6B0F1A"/>
                </a:solidFill>
                <a:latin typeface="Calibri" panose="020F0502020204030204" pitchFamily="34" charset="0"/>
                <a:ea typeface="Calibri" panose="020F0502020204030204" pitchFamily="34" charset="-122"/>
                <a:cs typeface="Calibri" panose="020F0502020204030204" pitchFamily="34" charset="-120"/>
              </a:rPr>
              <a:t>Using School Websites for Home-School Communication</a:t>
            </a:r>
            <a:endParaRPr lang="en-US" sz="1200" dirty="0"/>
          </a:p>
        </p:txBody>
      </p:sp>
      <p:sp>
        <p:nvSpPr>
          <p:cNvPr id="22" name="Text 20"/>
          <p:cNvSpPr/>
          <p:nvPr/>
        </p:nvSpPr>
        <p:spPr>
          <a:xfrm>
            <a:off x="502920" y="4301744"/>
            <a:ext cx="8138160" cy="475488"/>
          </a:xfrm>
          <a:prstGeom prst="rect">
            <a:avLst/>
          </a:prstGeom>
          <a:noFill/>
        </p:spPr>
        <p:txBody>
          <a:bodyPr wrap="square" rtlCol="0" anchor="ctr"/>
          <a:lstStyle/>
          <a:p>
            <a:pPr marL="0" indent="0">
              <a:buNone/>
            </a:pPr>
            <a:r>
              <a:rPr lang="en-US" sz="1100" dirty="0">
                <a:solidFill>
                  <a:srgbClr val="2E0A10"/>
                </a:solidFill>
                <a:latin typeface="Calibri" panose="020F0502020204030204" pitchFamily="34" charset="0"/>
                <a:ea typeface="Calibri" panose="020F0502020204030204" pitchFamily="34" charset="-122"/>
                <a:cs typeface="Calibri" panose="020F0502020204030204" pitchFamily="34" charset="-120"/>
              </a:rPr>
              <a:t>This international study found that schools often limit communication to social aspects rather than academic ones. The researchers added features to the grade portal to encourage parental involvement in school activities, promoting a stronger home-school relationship for better student academic outcomes.</a:t>
            </a:r>
            <a:endParaRPr lang="en-US" sz="1100" dirty="0"/>
          </a:p>
        </p:txBody>
      </p:sp>
      <p:sp>
        <p:nvSpPr>
          <p:cNvPr id="23" name="Shape 21"/>
          <p:cNvSpPr/>
          <p:nvPr/>
        </p:nvSpPr>
        <p:spPr>
          <a:xfrm>
            <a:off x="0" y="4956048"/>
            <a:ext cx="9144000" cy="182880"/>
          </a:xfrm>
          <a:prstGeom prst="rect">
            <a:avLst/>
          </a:prstGeom>
          <a:solidFill>
            <a:srgbClr val="3B0009"/>
          </a:solidFill>
          <a:ln w="12700">
            <a:solidFill>
              <a:srgbClr val="3B0009"/>
            </a:solidFill>
            <a:prstDash val="solid"/>
          </a:ln>
        </p:spPr>
      </p:sp>
      <p:sp>
        <p:nvSpPr>
          <p:cNvPr id="24" name="Text 22"/>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Research Design &amp; Methodology</a:t>
            </a:r>
            <a:endParaRPr lang="en-US" sz="2800" dirty="0"/>
          </a:p>
        </p:txBody>
      </p:sp>
      <p:sp>
        <p:nvSpPr>
          <p:cNvPr id="4" name="Shape 2"/>
          <p:cNvSpPr/>
          <p:nvPr/>
        </p:nvSpPr>
        <p:spPr>
          <a:xfrm>
            <a:off x="320040" y="841248"/>
            <a:ext cx="8503920" cy="1188720"/>
          </a:xfrm>
          <a:prstGeom prst="rect">
            <a:avLst/>
          </a:prstGeom>
          <a:solidFill>
            <a:srgbClr val="6B0F1A"/>
          </a:solidFill>
          <a:ln w="12700">
            <a:solidFill>
              <a:srgbClr val="E8C5C8"/>
            </a:solidFill>
            <a:prstDash val="solid"/>
          </a:ln>
          <a:effectLst>
            <a:outerShdw blurRad="63500" dist="25400" dir="8100000" algn="bl" rotWithShape="0">
              <a:srgbClr val="000000">
                <a:alpha val="7000"/>
              </a:srgbClr>
            </a:outerShdw>
          </a:effectLst>
        </p:spPr>
      </p:sp>
      <p:sp>
        <p:nvSpPr>
          <p:cNvPr id="5" name="Text 3"/>
          <p:cNvSpPr/>
          <p:nvPr/>
        </p:nvSpPr>
        <p:spPr>
          <a:xfrm>
            <a:off x="502920" y="914400"/>
            <a:ext cx="3200400" cy="320040"/>
          </a:xfrm>
          <a:prstGeom prst="rect">
            <a:avLst/>
          </a:prstGeom>
          <a:noFill/>
        </p:spPr>
        <p:txBody>
          <a:bodyPr wrap="square" rtlCol="0" anchor="ctr"/>
          <a:lstStyle/>
          <a:p>
            <a:pPr marL="0" indent="0">
              <a:buNone/>
            </a:pPr>
            <a:r>
              <a:rPr lang="en-US" sz="1300" b="1" dirty="0">
                <a:solidFill>
                  <a:srgbClr val="C9A84C"/>
                </a:solidFill>
                <a:latin typeface="Calibri" panose="020F0502020204030204" pitchFamily="34" charset="0"/>
                <a:ea typeface="Calibri" panose="020F0502020204030204" pitchFamily="34" charset="-122"/>
                <a:cs typeface="Calibri" panose="020F0502020204030204" pitchFamily="34" charset="-120"/>
              </a:rPr>
              <a:t>Research Design</a:t>
            </a:r>
            <a:endParaRPr lang="en-US" sz="1300" dirty="0"/>
          </a:p>
        </p:txBody>
      </p:sp>
      <p:sp>
        <p:nvSpPr>
          <p:cNvPr id="6" name="Text 4"/>
          <p:cNvSpPr/>
          <p:nvPr/>
        </p:nvSpPr>
        <p:spPr>
          <a:xfrm>
            <a:off x="502920" y="1261872"/>
            <a:ext cx="8229600" cy="658368"/>
          </a:xfrm>
          <a:prstGeom prst="rect">
            <a:avLst/>
          </a:prstGeom>
          <a:noFill/>
        </p:spPr>
        <p:txBody>
          <a:bodyPr wrap="square"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This study uses a Developmental Research Design — appropriate because the main objective is to design and build a functional information system that addresses a real and persistent problem in underdeveloped schools.</a:t>
            </a:r>
            <a:endParaRPr lang="en-US" sz="1200" dirty="0"/>
          </a:p>
        </p:txBody>
      </p:sp>
      <p:sp>
        <p:nvSpPr>
          <p:cNvPr id="7" name="Text 5"/>
          <p:cNvSpPr/>
          <p:nvPr/>
        </p:nvSpPr>
        <p:spPr>
          <a:xfrm>
            <a:off x="320040" y="2176272"/>
            <a:ext cx="8503920" cy="347472"/>
          </a:xfrm>
          <a:prstGeom prst="rect">
            <a:avLst/>
          </a:prstGeom>
          <a:noFill/>
        </p:spPr>
        <p:txBody>
          <a:bodyPr wrap="square" rtlCol="0" anchor="ctr"/>
          <a:lstStyle/>
          <a:p>
            <a:pPr marL="0" indent="0">
              <a:buNone/>
            </a:pPr>
            <a:r>
              <a:rPr lang="en-US" sz="1400" b="1" dirty="0">
                <a:solidFill>
                  <a:srgbClr val="6B0F1A"/>
                </a:solidFill>
                <a:latin typeface="Calibri" panose="020F0502020204030204" pitchFamily="34" charset="0"/>
                <a:ea typeface="Calibri" panose="020F0502020204030204" pitchFamily="34" charset="-122"/>
                <a:cs typeface="Calibri" panose="020F0502020204030204" pitchFamily="34" charset="-120"/>
              </a:rPr>
              <a:t>Waterfall Development Methodology</a:t>
            </a:r>
            <a:endParaRPr lang="en-US" sz="1400" dirty="0"/>
          </a:p>
        </p:txBody>
      </p:sp>
      <p:sp>
        <p:nvSpPr>
          <p:cNvPr id="8" name="Text 6"/>
          <p:cNvSpPr/>
          <p:nvPr/>
        </p:nvSpPr>
        <p:spPr>
          <a:xfrm>
            <a:off x="320040" y="2542032"/>
            <a:ext cx="8503920" cy="548640"/>
          </a:xfrm>
          <a:prstGeom prst="rect">
            <a:avLst/>
          </a:prstGeom>
          <a:noFill/>
        </p:spPr>
        <p:txBody>
          <a:bodyPr wrap="square" rtlCol="0" anchor="ctr"/>
          <a:lstStyle/>
          <a:p>
            <a:pPr marL="0" indent="0">
              <a:buNone/>
            </a:pPr>
            <a:r>
              <a:rPr lang="en-US" sz="1200" dirty="0">
                <a:solidFill>
                  <a:srgbClr val="2E0A10"/>
                </a:solidFill>
                <a:latin typeface="Calibri" panose="020F0502020204030204" pitchFamily="34" charset="0"/>
                <a:ea typeface="Calibri" panose="020F0502020204030204" pitchFamily="34" charset="-122"/>
                <a:cs typeface="Calibri" panose="020F0502020204030204" pitchFamily="34" charset="-120"/>
              </a:rPr>
              <a:t>The Waterfall methodology was chosen because the system requirements were clearly defined from the start through interviews and observations at the school. Its sequential structure provides a disciplined process from planning to deployment.</a:t>
            </a:r>
            <a:endParaRPr lang="en-US" sz="1200" dirty="0"/>
          </a:p>
        </p:txBody>
      </p:sp>
      <p:sp>
        <p:nvSpPr>
          <p:cNvPr id="9" name="Shape 7"/>
          <p:cNvSpPr/>
          <p:nvPr/>
        </p:nvSpPr>
        <p:spPr>
          <a:xfrm>
            <a:off x="320040" y="3246120"/>
            <a:ext cx="1325880" cy="658368"/>
          </a:xfrm>
          <a:prstGeom prst="rect">
            <a:avLst/>
          </a:prstGeom>
          <a:solidFill>
            <a:srgbClr val="6B0F1A"/>
          </a:solidFill>
          <a:ln w="12700">
            <a:solidFill>
              <a:srgbClr val="3B0009"/>
            </a:solidFill>
            <a:prstDash val="solid"/>
          </a:ln>
        </p:spPr>
      </p:sp>
      <p:sp>
        <p:nvSpPr>
          <p:cNvPr id="10" name="Text 8"/>
          <p:cNvSpPr/>
          <p:nvPr/>
        </p:nvSpPr>
        <p:spPr>
          <a:xfrm>
            <a:off x="320040" y="3291840"/>
            <a:ext cx="1325880" cy="566928"/>
          </a:xfrm>
          <a:prstGeom prst="rect">
            <a:avLst/>
          </a:prstGeom>
          <a:noFill/>
        </p:spPr>
        <p:txBody>
          <a:bodyPr wrap="square" rtlCol="0" anchor="ctr"/>
          <a:lstStyle/>
          <a:p>
            <a:pPr marL="0" indent="0" algn="ctr">
              <a:buNone/>
            </a:pPr>
            <a:r>
              <a:rPr lang="en-US" sz="1050" b="1" dirty="0">
                <a:solidFill>
                  <a:srgbClr val="C9A84C"/>
                </a:solidFill>
                <a:latin typeface="Calibri" panose="020F0502020204030204" pitchFamily="34" charset="0"/>
                <a:ea typeface="Calibri" panose="020F0502020204030204" pitchFamily="34" charset="-122"/>
                <a:cs typeface="Calibri" panose="020F0502020204030204" pitchFamily="34" charset="-120"/>
              </a:rPr>
              <a:t>Planning</a:t>
            </a:r>
            <a:endParaRPr lang="en-US" sz="1050" dirty="0"/>
          </a:p>
        </p:txBody>
      </p:sp>
      <p:sp>
        <p:nvSpPr>
          <p:cNvPr id="11" name="Shape 9"/>
          <p:cNvSpPr/>
          <p:nvPr/>
        </p:nvSpPr>
        <p:spPr>
          <a:xfrm>
            <a:off x="1645920" y="3538728"/>
            <a:ext cx="109728" cy="73152"/>
          </a:xfrm>
          <a:prstGeom prst="rect">
            <a:avLst/>
          </a:prstGeom>
          <a:solidFill>
            <a:srgbClr val="C9A84C"/>
          </a:solidFill>
          <a:ln w="12700">
            <a:solidFill>
              <a:srgbClr val="C9A84C"/>
            </a:solidFill>
            <a:prstDash val="solid"/>
          </a:ln>
        </p:spPr>
      </p:sp>
      <p:sp>
        <p:nvSpPr>
          <p:cNvPr id="12" name="Shape 10"/>
          <p:cNvSpPr/>
          <p:nvPr/>
        </p:nvSpPr>
        <p:spPr>
          <a:xfrm>
            <a:off x="1755648" y="3246120"/>
            <a:ext cx="1325880" cy="658368"/>
          </a:xfrm>
          <a:prstGeom prst="rect">
            <a:avLst/>
          </a:prstGeom>
          <a:solidFill>
            <a:srgbClr val="9B1D28"/>
          </a:solidFill>
          <a:ln w="12700">
            <a:solidFill>
              <a:srgbClr val="3B0009"/>
            </a:solidFill>
            <a:prstDash val="solid"/>
          </a:ln>
        </p:spPr>
      </p:sp>
      <p:sp>
        <p:nvSpPr>
          <p:cNvPr id="13" name="Text 11"/>
          <p:cNvSpPr/>
          <p:nvPr/>
        </p:nvSpPr>
        <p:spPr>
          <a:xfrm>
            <a:off x="1755648" y="3291840"/>
            <a:ext cx="1325880" cy="566928"/>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Requirement</a:t>
            </a:r>
            <a:endParaRPr lang="en-US" sz="1050" dirty="0"/>
          </a:p>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Analysis</a:t>
            </a:r>
            <a:endParaRPr lang="en-US" sz="1050" dirty="0"/>
          </a:p>
        </p:txBody>
      </p:sp>
      <p:sp>
        <p:nvSpPr>
          <p:cNvPr id="14" name="Shape 12"/>
          <p:cNvSpPr/>
          <p:nvPr/>
        </p:nvSpPr>
        <p:spPr>
          <a:xfrm>
            <a:off x="3081528" y="3538728"/>
            <a:ext cx="109728" cy="73152"/>
          </a:xfrm>
          <a:prstGeom prst="rect">
            <a:avLst/>
          </a:prstGeom>
          <a:solidFill>
            <a:srgbClr val="C9A84C"/>
          </a:solidFill>
          <a:ln w="12700">
            <a:solidFill>
              <a:srgbClr val="C9A84C"/>
            </a:solidFill>
            <a:prstDash val="solid"/>
          </a:ln>
        </p:spPr>
      </p:sp>
      <p:sp>
        <p:nvSpPr>
          <p:cNvPr id="15" name="Shape 13"/>
          <p:cNvSpPr/>
          <p:nvPr/>
        </p:nvSpPr>
        <p:spPr>
          <a:xfrm>
            <a:off x="3191256" y="3246120"/>
            <a:ext cx="1325880" cy="658368"/>
          </a:xfrm>
          <a:prstGeom prst="rect">
            <a:avLst/>
          </a:prstGeom>
          <a:solidFill>
            <a:srgbClr val="6B0F1A"/>
          </a:solidFill>
          <a:ln w="12700">
            <a:solidFill>
              <a:srgbClr val="3B0009"/>
            </a:solidFill>
            <a:prstDash val="solid"/>
          </a:ln>
        </p:spPr>
      </p:sp>
      <p:sp>
        <p:nvSpPr>
          <p:cNvPr id="16" name="Text 14"/>
          <p:cNvSpPr/>
          <p:nvPr/>
        </p:nvSpPr>
        <p:spPr>
          <a:xfrm>
            <a:off x="3191256" y="3291840"/>
            <a:ext cx="1325880" cy="566928"/>
          </a:xfrm>
          <a:prstGeom prst="rect">
            <a:avLst/>
          </a:prstGeom>
          <a:noFill/>
        </p:spPr>
        <p:txBody>
          <a:bodyPr wrap="square" rtlCol="0" anchor="ctr"/>
          <a:lstStyle/>
          <a:p>
            <a:pPr marL="0" indent="0" algn="ctr">
              <a:buNone/>
            </a:pPr>
            <a:r>
              <a:rPr lang="en-US" sz="1050" b="1" dirty="0">
                <a:solidFill>
                  <a:srgbClr val="C9A84C"/>
                </a:solidFill>
                <a:latin typeface="Calibri" panose="020F0502020204030204" pitchFamily="34" charset="0"/>
                <a:ea typeface="Calibri" panose="020F0502020204030204" pitchFamily="34" charset="-122"/>
                <a:cs typeface="Calibri" panose="020F0502020204030204" pitchFamily="34" charset="-120"/>
              </a:rPr>
              <a:t>System</a:t>
            </a:r>
            <a:endParaRPr lang="en-US" sz="1050" dirty="0"/>
          </a:p>
          <a:p>
            <a:pPr marL="0" indent="0" algn="ctr">
              <a:buNone/>
            </a:pPr>
            <a:r>
              <a:rPr lang="en-US" sz="1050" b="1" dirty="0">
                <a:solidFill>
                  <a:srgbClr val="C9A84C"/>
                </a:solidFill>
                <a:latin typeface="Calibri" panose="020F0502020204030204" pitchFamily="34" charset="0"/>
                <a:ea typeface="Calibri" panose="020F0502020204030204" pitchFamily="34" charset="-122"/>
                <a:cs typeface="Calibri" panose="020F0502020204030204" pitchFamily="34" charset="-120"/>
              </a:rPr>
              <a:t>Design</a:t>
            </a:r>
            <a:endParaRPr lang="en-US" sz="1050" dirty="0"/>
          </a:p>
        </p:txBody>
      </p:sp>
      <p:sp>
        <p:nvSpPr>
          <p:cNvPr id="17" name="Shape 15"/>
          <p:cNvSpPr/>
          <p:nvPr/>
        </p:nvSpPr>
        <p:spPr>
          <a:xfrm>
            <a:off x="4517136" y="3538728"/>
            <a:ext cx="109728" cy="73152"/>
          </a:xfrm>
          <a:prstGeom prst="rect">
            <a:avLst/>
          </a:prstGeom>
          <a:solidFill>
            <a:srgbClr val="C9A84C"/>
          </a:solidFill>
          <a:ln w="12700">
            <a:solidFill>
              <a:srgbClr val="C9A84C"/>
            </a:solidFill>
            <a:prstDash val="solid"/>
          </a:ln>
        </p:spPr>
      </p:sp>
      <p:sp>
        <p:nvSpPr>
          <p:cNvPr id="18" name="Shape 16"/>
          <p:cNvSpPr/>
          <p:nvPr/>
        </p:nvSpPr>
        <p:spPr>
          <a:xfrm>
            <a:off x="4626864" y="3246120"/>
            <a:ext cx="1325880" cy="658368"/>
          </a:xfrm>
          <a:prstGeom prst="rect">
            <a:avLst/>
          </a:prstGeom>
          <a:solidFill>
            <a:srgbClr val="9B1D28"/>
          </a:solidFill>
          <a:ln w="12700">
            <a:solidFill>
              <a:srgbClr val="3B0009"/>
            </a:solidFill>
            <a:prstDash val="solid"/>
          </a:ln>
        </p:spPr>
      </p:sp>
      <p:sp>
        <p:nvSpPr>
          <p:cNvPr id="19" name="Text 17"/>
          <p:cNvSpPr/>
          <p:nvPr/>
        </p:nvSpPr>
        <p:spPr>
          <a:xfrm>
            <a:off x="4626864" y="3291840"/>
            <a:ext cx="1325880" cy="566928"/>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Development</a:t>
            </a:r>
            <a:endParaRPr lang="en-US" sz="1050" dirty="0"/>
          </a:p>
        </p:txBody>
      </p:sp>
      <p:sp>
        <p:nvSpPr>
          <p:cNvPr id="20" name="Shape 18"/>
          <p:cNvSpPr/>
          <p:nvPr/>
        </p:nvSpPr>
        <p:spPr>
          <a:xfrm>
            <a:off x="5952744" y="3538728"/>
            <a:ext cx="109728" cy="73152"/>
          </a:xfrm>
          <a:prstGeom prst="rect">
            <a:avLst/>
          </a:prstGeom>
          <a:solidFill>
            <a:srgbClr val="C9A84C"/>
          </a:solidFill>
          <a:ln w="12700">
            <a:solidFill>
              <a:srgbClr val="C9A84C"/>
            </a:solidFill>
            <a:prstDash val="solid"/>
          </a:ln>
        </p:spPr>
      </p:sp>
      <p:sp>
        <p:nvSpPr>
          <p:cNvPr id="21" name="Shape 19"/>
          <p:cNvSpPr/>
          <p:nvPr/>
        </p:nvSpPr>
        <p:spPr>
          <a:xfrm>
            <a:off x="6062472" y="3246120"/>
            <a:ext cx="1325880" cy="658368"/>
          </a:xfrm>
          <a:prstGeom prst="rect">
            <a:avLst/>
          </a:prstGeom>
          <a:solidFill>
            <a:srgbClr val="6B0F1A"/>
          </a:solidFill>
          <a:ln w="12700">
            <a:solidFill>
              <a:srgbClr val="3B0009"/>
            </a:solidFill>
            <a:prstDash val="solid"/>
          </a:ln>
        </p:spPr>
      </p:sp>
      <p:sp>
        <p:nvSpPr>
          <p:cNvPr id="22" name="Text 20"/>
          <p:cNvSpPr/>
          <p:nvPr/>
        </p:nvSpPr>
        <p:spPr>
          <a:xfrm>
            <a:off x="6062472" y="3291840"/>
            <a:ext cx="1325880" cy="566928"/>
          </a:xfrm>
          <a:prstGeom prst="rect">
            <a:avLst/>
          </a:prstGeom>
          <a:noFill/>
        </p:spPr>
        <p:txBody>
          <a:bodyPr wrap="square" rtlCol="0" anchor="ctr"/>
          <a:lstStyle/>
          <a:p>
            <a:pPr marL="0" indent="0" algn="ctr">
              <a:buNone/>
            </a:pPr>
            <a:r>
              <a:rPr lang="en-US" sz="1050" b="1" dirty="0">
                <a:solidFill>
                  <a:srgbClr val="C9A84C"/>
                </a:solidFill>
                <a:latin typeface="Calibri" panose="020F0502020204030204" pitchFamily="34" charset="0"/>
                <a:ea typeface="Calibri" panose="020F0502020204030204" pitchFamily="34" charset="-122"/>
                <a:cs typeface="Calibri" panose="020F0502020204030204" pitchFamily="34" charset="-120"/>
              </a:rPr>
              <a:t>Testing</a:t>
            </a:r>
            <a:endParaRPr lang="en-US" sz="1050" dirty="0"/>
          </a:p>
        </p:txBody>
      </p:sp>
      <p:sp>
        <p:nvSpPr>
          <p:cNvPr id="23" name="Shape 21"/>
          <p:cNvSpPr/>
          <p:nvPr/>
        </p:nvSpPr>
        <p:spPr>
          <a:xfrm>
            <a:off x="7388352" y="3538728"/>
            <a:ext cx="109728" cy="73152"/>
          </a:xfrm>
          <a:prstGeom prst="rect">
            <a:avLst/>
          </a:prstGeom>
          <a:solidFill>
            <a:srgbClr val="C9A84C"/>
          </a:solidFill>
          <a:ln w="12700">
            <a:solidFill>
              <a:srgbClr val="C9A84C"/>
            </a:solidFill>
            <a:prstDash val="solid"/>
          </a:ln>
        </p:spPr>
      </p:sp>
      <p:sp>
        <p:nvSpPr>
          <p:cNvPr id="24" name="Shape 22"/>
          <p:cNvSpPr/>
          <p:nvPr/>
        </p:nvSpPr>
        <p:spPr>
          <a:xfrm>
            <a:off x="7498080" y="3246120"/>
            <a:ext cx="1325880" cy="658368"/>
          </a:xfrm>
          <a:prstGeom prst="rect">
            <a:avLst/>
          </a:prstGeom>
          <a:solidFill>
            <a:srgbClr val="9B1D28"/>
          </a:solidFill>
          <a:ln w="12700">
            <a:solidFill>
              <a:srgbClr val="3B0009"/>
            </a:solidFill>
            <a:prstDash val="solid"/>
          </a:ln>
        </p:spPr>
      </p:sp>
      <p:sp>
        <p:nvSpPr>
          <p:cNvPr id="25" name="Text 23"/>
          <p:cNvSpPr/>
          <p:nvPr/>
        </p:nvSpPr>
        <p:spPr>
          <a:xfrm>
            <a:off x="7498080" y="3291840"/>
            <a:ext cx="1325880" cy="566928"/>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Deployment</a:t>
            </a:r>
            <a:endParaRPr lang="en-US" sz="1050" dirty="0"/>
          </a:p>
        </p:txBody>
      </p:sp>
      <p:sp>
        <p:nvSpPr>
          <p:cNvPr id="26" name="Shape 24"/>
          <p:cNvSpPr/>
          <p:nvPr/>
        </p:nvSpPr>
        <p:spPr>
          <a:xfrm>
            <a:off x="0" y="4956048"/>
            <a:ext cx="9144000" cy="182880"/>
          </a:xfrm>
          <a:prstGeom prst="rect">
            <a:avLst/>
          </a:prstGeom>
          <a:solidFill>
            <a:srgbClr val="3B0009"/>
          </a:solidFill>
          <a:ln w="12700">
            <a:solidFill>
              <a:srgbClr val="3B0009"/>
            </a:solidFill>
            <a:prstDash val="solid"/>
          </a:ln>
        </p:spPr>
      </p:sp>
      <p:sp>
        <p:nvSpPr>
          <p:cNvPr id="27" name="Text 25"/>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Technology Stack</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Shape 3"/>
          <p:cNvSpPr/>
          <p:nvPr/>
        </p:nvSpPr>
        <p:spPr>
          <a:xfrm>
            <a:off x="274320" y="1078992"/>
            <a:ext cx="2788920" cy="3657600"/>
          </a:xfrm>
          <a:prstGeom prst="rect">
            <a:avLst/>
          </a:prstGeom>
          <a:solidFill>
            <a:srgbClr val="9B1D28"/>
          </a:solidFill>
          <a:ln w="12700">
            <a:solidFill>
              <a:srgbClr val="9B1D28"/>
            </a:solidFill>
            <a:prstDash val="solid"/>
          </a:ln>
        </p:spPr>
      </p:sp>
      <p:sp>
        <p:nvSpPr>
          <p:cNvPr id="6" name="Text 4"/>
          <p:cNvSpPr/>
          <p:nvPr/>
        </p:nvSpPr>
        <p:spPr>
          <a:xfrm>
            <a:off x="411480" y="1188720"/>
            <a:ext cx="2514600" cy="365760"/>
          </a:xfrm>
          <a:prstGeom prst="rect">
            <a:avLst/>
          </a:prstGeom>
          <a:noFill/>
        </p:spPr>
        <p:txBody>
          <a:bodyPr wrap="square" rtlCol="0" anchor="ctr"/>
          <a:lstStyle/>
          <a:p>
            <a:pPr marL="0" indent="0">
              <a:buNone/>
            </a:pPr>
            <a:r>
              <a:rPr lang="en-US" sz="1600" b="1" dirty="0">
                <a:solidFill>
                  <a:srgbClr val="C9A84C"/>
                </a:solidFill>
                <a:latin typeface="Calibri" panose="020F0502020204030204" pitchFamily="34" charset="0"/>
                <a:ea typeface="Calibri" panose="020F0502020204030204" pitchFamily="34" charset="-122"/>
                <a:cs typeface="Calibri" panose="020F0502020204030204" pitchFamily="34" charset="-120"/>
              </a:rPr>
              <a:t>Frontend</a:t>
            </a:r>
            <a:endParaRPr lang="en-US" sz="1600" dirty="0"/>
          </a:p>
        </p:txBody>
      </p:sp>
      <p:sp>
        <p:nvSpPr>
          <p:cNvPr id="7" name="Shape 5"/>
          <p:cNvSpPr/>
          <p:nvPr/>
        </p:nvSpPr>
        <p:spPr>
          <a:xfrm>
            <a:off x="411480" y="1591056"/>
            <a:ext cx="548640" cy="45720"/>
          </a:xfrm>
          <a:prstGeom prst="rect">
            <a:avLst/>
          </a:prstGeom>
          <a:solidFill>
            <a:srgbClr val="C9A84C"/>
          </a:solidFill>
          <a:ln w="12700">
            <a:solidFill>
              <a:srgbClr val="C9A84C"/>
            </a:solidFill>
            <a:prstDash val="solid"/>
          </a:ln>
        </p:spPr>
      </p:sp>
      <p:sp>
        <p:nvSpPr>
          <p:cNvPr id="8" name="Text 6"/>
          <p:cNvSpPr/>
          <p:nvPr/>
        </p:nvSpPr>
        <p:spPr>
          <a:xfrm>
            <a:off x="411480" y="1737360"/>
            <a:ext cx="2514600" cy="2788920"/>
          </a:xfrm>
          <a:prstGeom prst="rect">
            <a:avLst/>
          </a:prstGeom>
          <a:noFill/>
        </p:spPr>
        <p:txBody>
          <a:bodyPr wrap="square" rtlCol="0" anchor="ctr"/>
          <a:lstStyle/>
          <a:p>
            <a:pPr marL="342900" indent="-342900">
              <a:spcAft>
                <a:spcPts val="10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HTML — Structures every page element: headers, buttons, forms, and images.</a:t>
            </a:r>
            <a:endParaRPr lang="en-US" sz="1150" dirty="0"/>
          </a:p>
          <a:p>
            <a:pPr marL="342900" indent="-342900">
              <a:spcAft>
                <a:spcPts val="10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CSS — Provides visual styling, layout, and a user-friendly appearance.</a:t>
            </a:r>
            <a:endParaRPr lang="en-US" sz="1150" dirty="0"/>
          </a:p>
          <a:p>
            <a:pPr marL="342900" indent="-342900">
              <a:spcAft>
                <a:spcPts val="10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JavaScript — Enables interactive and dynamic features on the web pages.</a:t>
            </a:r>
            <a:endParaRPr lang="en-US" sz="1150" dirty="0"/>
          </a:p>
        </p:txBody>
      </p:sp>
      <p:sp>
        <p:nvSpPr>
          <p:cNvPr id="9" name="Shape 7"/>
          <p:cNvSpPr/>
          <p:nvPr/>
        </p:nvSpPr>
        <p:spPr>
          <a:xfrm>
            <a:off x="3273552" y="1078992"/>
            <a:ext cx="2788920" cy="3657600"/>
          </a:xfrm>
          <a:prstGeom prst="rect">
            <a:avLst/>
          </a:prstGeom>
          <a:solidFill>
            <a:srgbClr val="6B0F1A"/>
          </a:solidFill>
          <a:ln w="12700">
            <a:solidFill>
              <a:srgbClr val="6B0F1A"/>
            </a:solidFill>
            <a:prstDash val="solid"/>
          </a:ln>
        </p:spPr>
      </p:sp>
      <p:sp>
        <p:nvSpPr>
          <p:cNvPr id="10" name="Text 8"/>
          <p:cNvSpPr/>
          <p:nvPr/>
        </p:nvSpPr>
        <p:spPr>
          <a:xfrm>
            <a:off x="3410712" y="1188720"/>
            <a:ext cx="2514600" cy="365760"/>
          </a:xfrm>
          <a:prstGeom prst="rect">
            <a:avLst/>
          </a:prstGeom>
          <a:noFill/>
        </p:spPr>
        <p:txBody>
          <a:bodyPr wrap="square" rtlCol="0" anchor="ctr"/>
          <a:lstStyle/>
          <a:p>
            <a:pPr marL="0" indent="0">
              <a:buNone/>
            </a:pPr>
            <a:r>
              <a:rPr lang="en-US" sz="1600" b="1" dirty="0">
                <a:solidFill>
                  <a:srgbClr val="C9A84C"/>
                </a:solidFill>
                <a:latin typeface="Calibri" panose="020F0502020204030204" pitchFamily="34" charset="0"/>
                <a:ea typeface="Calibri" panose="020F0502020204030204" pitchFamily="34" charset="-122"/>
                <a:cs typeface="Calibri" panose="020F0502020204030204" pitchFamily="34" charset="-120"/>
              </a:rPr>
              <a:t>Backend</a:t>
            </a:r>
            <a:endParaRPr lang="en-US" sz="1600" dirty="0"/>
          </a:p>
        </p:txBody>
      </p:sp>
      <p:sp>
        <p:nvSpPr>
          <p:cNvPr id="11" name="Shape 9"/>
          <p:cNvSpPr/>
          <p:nvPr/>
        </p:nvSpPr>
        <p:spPr>
          <a:xfrm>
            <a:off x="3410712" y="1591056"/>
            <a:ext cx="548640" cy="45720"/>
          </a:xfrm>
          <a:prstGeom prst="rect">
            <a:avLst/>
          </a:prstGeom>
          <a:solidFill>
            <a:srgbClr val="C9A84C"/>
          </a:solidFill>
          <a:ln w="12700">
            <a:solidFill>
              <a:srgbClr val="C9A84C"/>
            </a:solidFill>
            <a:prstDash val="solid"/>
          </a:ln>
        </p:spPr>
      </p:sp>
      <p:sp>
        <p:nvSpPr>
          <p:cNvPr id="12" name="Text 10"/>
          <p:cNvSpPr/>
          <p:nvPr/>
        </p:nvSpPr>
        <p:spPr>
          <a:xfrm>
            <a:off x="3410712" y="1737360"/>
            <a:ext cx="2514600" cy="2788920"/>
          </a:xfrm>
          <a:prstGeom prst="rect">
            <a:avLst/>
          </a:prstGeom>
          <a:noFill/>
        </p:spPr>
        <p:txBody>
          <a:bodyPr wrap="square" rtlCol="0" anchor="ctr"/>
          <a:lstStyle/>
          <a:p>
            <a:pPr marL="342900" indent="-342900">
              <a:spcAft>
                <a:spcPts val="10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Node.js — Server-side runtime environment for processing requests.</a:t>
            </a:r>
            <a:endParaRPr lang="en-US" sz="1150" dirty="0"/>
          </a:p>
          <a:p>
            <a:pPr marL="342900" indent="-342900">
              <a:spcAft>
                <a:spcPts val="10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Express.js — Handles API routes, user authentication, and backend logic.</a:t>
            </a:r>
            <a:endParaRPr lang="en-US" sz="1150" dirty="0"/>
          </a:p>
        </p:txBody>
      </p:sp>
      <p:sp>
        <p:nvSpPr>
          <p:cNvPr id="13" name="Shape 11"/>
          <p:cNvSpPr/>
          <p:nvPr/>
        </p:nvSpPr>
        <p:spPr>
          <a:xfrm>
            <a:off x="6272784" y="1078992"/>
            <a:ext cx="2788920" cy="3657600"/>
          </a:xfrm>
          <a:prstGeom prst="rect">
            <a:avLst/>
          </a:prstGeom>
          <a:solidFill>
            <a:srgbClr val="7A1020"/>
          </a:solidFill>
          <a:ln w="12700">
            <a:solidFill>
              <a:srgbClr val="7A1020"/>
            </a:solidFill>
            <a:prstDash val="solid"/>
          </a:ln>
        </p:spPr>
      </p:sp>
      <p:sp>
        <p:nvSpPr>
          <p:cNvPr id="14" name="Text 12"/>
          <p:cNvSpPr/>
          <p:nvPr/>
        </p:nvSpPr>
        <p:spPr>
          <a:xfrm>
            <a:off x="6409944" y="1188720"/>
            <a:ext cx="2514600" cy="365760"/>
          </a:xfrm>
          <a:prstGeom prst="rect">
            <a:avLst/>
          </a:prstGeom>
          <a:noFill/>
        </p:spPr>
        <p:txBody>
          <a:bodyPr wrap="square" rtlCol="0" anchor="ctr"/>
          <a:lstStyle/>
          <a:p>
            <a:pPr marL="0" indent="0">
              <a:buNone/>
            </a:pPr>
            <a:r>
              <a:rPr lang="en-US" sz="1600" b="1" dirty="0">
                <a:solidFill>
                  <a:srgbClr val="C9A84C"/>
                </a:solidFill>
                <a:latin typeface="Calibri" panose="020F0502020204030204" pitchFamily="34" charset="0"/>
                <a:ea typeface="Calibri" panose="020F0502020204030204" pitchFamily="34" charset="-122"/>
                <a:cs typeface="Calibri" panose="020F0502020204030204" pitchFamily="34" charset="-120"/>
              </a:rPr>
              <a:t>Database</a:t>
            </a:r>
            <a:endParaRPr lang="en-US" sz="1600" dirty="0"/>
          </a:p>
        </p:txBody>
      </p:sp>
      <p:sp>
        <p:nvSpPr>
          <p:cNvPr id="15" name="Shape 13"/>
          <p:cNvSpPr/>
          <p:nvPr/>
        </p:nvSpPr>
        <p:spPr>
          <a:xfrm>
            <a:off x="6409944" y="1591056"/>
            <a:ext cx="548640" cy="45720"/>
          </a:xfrm>
          <a:prstGeom prst="rect">
            <a:avLst/>
          </a:prstGeom>
          <a:solidFill>
            <a:srgbClr val="C9A84C"/>
          </a:solidFill>
          <a:ln w="12700">
            <a:solidFill>
              <a:srgbClr val="C9A84C"/>
            </a:solidFill>
            <a:prstDash val="solid"/>
          </a:ln>
        </p:spPr>
      </p:sp>
      <p:sp>
        <p:nvSpPr>
          <p:cNvPr id="16" name="Text 14"/>
          <p:cNvSpPr/>
          <p:nvPr/>
        </p:nvSpPr>
        <p:spPr>
          <a:xfrm>
            <a:off x="6409944" y="1737360"/>
            <a:ext cx="2514600" cy="2788920"/>
          </a:xfrm>
          <a:prstGeom prst="rect">
            <a:avLst/>
          </a:prstGeom>
          <a:noFill/>
        </p:spPr>
        <p:txBody>
          <a:bodyPr wrap="square" rtlCol="0" anchor="ctr"/>
          <a:lstStyle/>
          <a:p>
            <a:pPr marL="342900" indent="-342900">
              <a:spcAft>
                <a:spcPts val="10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MySQL — Main database storing student records, grades, subjects, and sections.</a:t>
            </a:r>
            <a:endParaRPr lang="en-US" sz="1150" dirty="0"/>
          </a:p>
          <a:p>
            <a:pPr marL="342900" indent="-342900">
              <a:spcAft>
                <a:spcPts val="10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MySQL Workbench — Used to design, manage, and query the database.</a:t>
            </a:r>
            <a:endParaRPr lang="en-US" sz="1150" dirty="0"/>
          </a:p>
        </p:txBody>
      </p:sp>
      <p:sp>
        <p:nvSpPr>
          <p:cNvPr id="17" name="Text 15"/>
          <p:cNvSpPr/>
          <p:nvPr/>
        </p:nvSpPr>
        <p:spPr>
          <a:xfrm>
            <a:off x="274320" y="4828032"/>
            <a:ext cx="8595360" cy="228600"/>
          </a:xfrm>
          <a:prstGeom prst="rect">
            <a:avLst/>
          </a:prstGeom>
          <a:noFill/>
        </p:spPr>
        <p:txBody>
          <a:bodyPr wrap="square" rtlCol="0" anchor="ctr"/>
          <a:lstStyle/>
          <a:p>
            <a:pPr marL="0" indent="0" algn="ctr">
              <a:buNone/>
            </a:pPr>
            <a:r>
              <a:rPr lang="en-US" sz="1100" dirty="0">
                <a:solidFill>
                  <a:srgbClr val="A87070"/>
                </a:solidFill>
                <a:latin typeface="Calibri" panose="020F0502020204030204" pitchFamily="34" charset="0"/>
                <a:ea typeface="Calibri" panose="020F0502020204030204" pitchFamily="34" charset="-122"/>
                <a:cs typeface="Calibri" panose="020F0502020204030204" pitchFamily="34" charset="-120"/>
              </a:rPr>
              <a:t>Additional Dev Tools:  Visual Studio Code  •  Thunder Client  •  Multer  •  SheetJS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2800" dirty="0"/>
          </a:p>
        </p:txBody>
      </p:sp>
      <p:sp>
        <p:nvSpPr>
          <p:cNvPr id="4" name="Text 2"/>
          <p:cNvSpPr/>
          <p:nvPr/>
        </p:nvSpPr>
        <p:spPr>
          <a:xfrm>
            <a:off x="320040" y="749808"/>
            <a:ext cx="8503920" cy="274320"/>
          </a:xfrm>
          <a:prstGeom prst="rect">
            <a:avLst/>
          </a:prstGeom>
          <a:noFill/>
        </p:spPr>
        <p:txBody>
          <a:bodyPr wrap="square" rtlCol="0" anchor="ctr"/>
          <a:lstStyle/>
          <a:p>
            <a:pPr marL="0" indent="0">
              <a:buNone/>
            </a:pPr>
            <a:r>
              <a:rPr lang="en-US" sz="1250" dirty="0">
                <a:solidFill>
                  <a:srgbClr val="A87070"/>
                </a:solidFill>
                <a:latin typeface="Calibri" panose="020F0502020204030204" pitchFamily="34" charset="0"/>
                <a:ea typeface="Calibri" panose="020F0502020204030204" pitchFamily="34" charset="-122"/>
                <a:cs typeface="Calibri" panose="020F0502020204030204" pitchFamily="34" charset="-120"/>
              </a:rPr>
              <a:t>The system follows a 3-Layer Client-Server Architecture</a:t>
            </a:r>
            <a:endParaRPr lang="en-US" sz="1250" dirty="0"/>
          </a:p>
        </p:txBody>
      </p:sp>
      <p:sp>
        <p:nvSpPr>
          <p:cNvPr id="5" name="Shape 3"/>
          <p:cNvSpPr/>
          <p:nvPr/>
        </p:nvSpPr>
        <p:spPr>
          <a:xfrm>
            <a:off x="320040" y="1115568"/>
            <a:ext cx="8503920" cy="1143000"/>
          </a:xfrm>
          <a:prstGeom prst="rect">
            <a:avLst/>
          </a:prstGeom>
          <a:solidFill>
            <a:srgbClr val="9B1D28"/>
          </a:solidFill>
          <a:ln w="12700">
            <a:solidFill>
              <a:srgbClr val="9B1D28"/>
            </a:solidFill>
            <a:prstDash val="solid"/>
          </a:ln>
        </p:spPr>
      </p:sp>
      <p:sp>
        <p:nvSpPr>
          <p:cNvPr id="6" name="Shape 4"/>
          <p:cNvSpPr/>
          <p:nvPr/>
        </p:nvSpPr>
        <p:spPr>
          <a:xfrm>
            <a:off x="320040" y="1115568"/>
            <a:ext cx="502920" cy="1143000"/>
          </a:xfrm>
          <a:prstGeom prst="rect">
            <a:avLst/>
          </a:prstGeom>
          <a:solidFill>
            <a:srgbClr val="3B0009"/>
          </a:solidFill>
          <a:ln w="12700">
            <a:solidFill>
              <a:srgbClr val="3B0009"/>
            </a:solidFill>
            <a:prstDash val="solid"/>
          </a:ln>
        </p:spPr>
      </p:sp>
      <p:sp>
        <p:nvSpPr>
          <p:cNvPr id="7" name="Text 5"/>
          <p:cNvSpPr/>
          <p:nvPr/>
        </p:nvSpPr>
        <p:spPr>
          <a:xfrm>
            <a:off x="320040" y="1463040"/>
            <a:ext cx="502920" cy="457200"/>
          </a:xfrm>
          <a:prstGeom prst="rect">
            <a:avLst/>
          </a:prstGeom>
          <a:noFill/>
        </p:spPr>
        <p:txBody>
          <a:bodyPr wrap="square" rtlCol="0" anchor="ctr"/>
          <a:lstStyle/>
          <a:p>
            <a:pPr marL="0" indent="0" algn="ctr">
              <a:buNone/>
            </a:pPr>
            <a:r>
              <a:rPr lang="en-US" sz="2000" b="1" dirty="0">
                <a:solidFill>
                  <a:srgbClr val="C9A84C"/>
                </a:solidFill>
                <a:latin typeface="Calibri" panose="020F0502020204030204" pitchFamily="34" charset="0"/>
                <a:ea typeface="Calibri" panose="020F0502020204030204" pitchFamily="34" charset="-122"/>
                <a:cs typeface="Calibri" panose="020F0502020204030204" pitchFamily="34" charset="-120"/>
              </a:rPr>
              <a:t>1</a:t>
            </a:r>
            <a:endParaRPr lang="en-US" sz="2000" dirty="0"/>
          </a:p>
        </p:txBody>
      </p:sp>
      <p:sp>
        <p:nvSpPr>
          <p:cNvPr id="8" name="Text 6"/>
          <p:cNvSpPr/>
          <p:nvPr/>
        </p:nvSpPr>
        <p:spPr>
          <a:xfrm>
            <a:off x="914400" y="1207008"/>
            <a:ext cx="3200400" cy="347472"/>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Presentation Layer</a:t>
            </a:r>
            <a:endParaRPr lang="en-US" sz="1400" dirty="0"/>
          </a:p>
        </p:txBody>
      </p:sp>
      <p:sp>
        <p:nvSpPr>
          <p:cNvPr id="9" name="Text 7"/>
          <p:cNvSpPr/>
          <p:nvPr/>
        </p:nvSpPr>
        <p:spPr>
          <a:xfrm>
            <a:off x="914400" y="1572768"/>
            <a:ext cx="3200400" cy="274320"/>
          </a:xfrm>
          <a:prstGeom prst="rect">
            <a:avLst/>
          </a:prstGeom>
          <a:noFill/>
        </p:spPr>
        <p:txBody>
          <a:bodyPr wrap="square" rtlCol="0" anchor="ctr"/>
          <a:lstStyle/>
          <a:p>
            <a:pPr marL="0" indent="0">
              <a:buNone/>
            </a:pPr>
            <a:r>
              <a:rPr lang="en-US" sz="1100" dirty="0">
                <a:solidFill>
                  <a:srgbClr val="C9A84C"/>
                </a:solidFill>
                <a:latin typeface="Calibri" panose="020F0502020204030204" pitchFamily="34" charset="0"/>
                <a:ea typeface="Calibri" panose="020F0502020204030204" pitchFamily="34" charset="-122"/>
                <a:cs typeface="Calibri" panose="020F0502020204030204" pitchFamily="34" charset="-120"/>
              </a:rPr>
              <a:t>HTML  •  CSS  •  JavaScript</a:t>
            </a:r>
            <a:endParaRPr lang="en-US" sz="1100" dirty="0"/>
          </a:p>
        </p:txBody>
      </p:sp>
      <p:sp>
        <p:nvSpPr>
          <p:cNvPr id="10" name="Text 8"/>
          <p:cNvSpPr/>
          <p:nvPr/>
        </p:nvSpPr>
        <p:spPr>
          <a:xfrm>
            <a:off x="4206240" y="1207008"/>
            <a:ext cx="4480560" cy="960120"/>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This is the front-facing interface that users directly interact with. It includes all web pages, forms, dashboards, and visual elements rendered on the browser or mobile device. The interface was designed for simplicity so that parents and teachers with basic digital literacy can use it without difficulty.</a:t>
            </a:r>
            <a:endParaRPr lang="en-US" sz="1100" dirty="0"/>
          </a:p>
        </p:txBody>
      </p:sp>
      <p:sp>
        <p:nvSpPr>
          <p:cNvPr id="11" name="Shape 9"/>
          <p:cNvSpPr/>
          <p:nvPr/>
        </p:nvSpPr>
        <p:spPr>
          <a:xfrm>
            <a:off x="320040" y="2377440"/>
            <a:ext cx="8503920" cy="1143000"/>
          </a:xfrm>
          <a:prstGeom prst="rect">
            <a:avLst/>
          </a:prstGeom>
          <a:solidFill>
            <a:srgbClr val="6B0F1A"/>
          </a:solidFill>
          <a:ln w="12700">
            <a:solidFill>
              <a:srgbClr val="6B0F1A"/>
            </a:solidFill>
            <a:prstDash val="solid"/>
          </a:ln>
        </p:spPr>
      </p:sp>
      <p:sp>
        <p:nvSpPr>
          <p:cNvPr id="12" name="Shape 10"/>
          <p:cNvSpPr/>
          <p:nvPr/>
        </p:nvSpPr>
        <p:spPr>
          <a:xfrm>
            <a:off x="320040" y="2377440"/>
            <a:ext cx="502920" cy="1143000"/>
          </a:xfrm>
          <a:prstGeom prst="rect">
            <a:avLst/>
          </a:prstGeom>
          <a:solidFill>
            <a:srgbClr val="3B0009"/>
          </a:solidFill>
          <a:ln w="12700">
            <a:solidFill>
              <a:srgbClr val="3B0009"/>
            </a:solidFill>
            <a:prstDash val="solid"/>
          </a:ln>
        </p:spPr>
      </p:sp>
      <p:sp>
        <p:nvSpPr>
          <p:cNvPr id="13" name="Text 11"/>
          <p:cNvSpPr/>
          <p:nvPr/>
        </p:nvSpPr>
        <p:spPr>
          <a:xfrm>
            <a:off x="320040" y="2724912"/>
            <a:ext cx="502920" cy="457200"/>
          </a:xfrm>
          <a:prstGeom prst="rect">
            <a:avLst/>
          </a:prstGeom>
          <a:noFill/>
        </p:spPr>
        <p:txBody>
          <a:bodyPr wrap="square" rtlCol="0" anchor="ctr"/>
          <a:lstStyle/>
          <a:p>
            <a:pPr marL="0" indent="0" algn="ctr">
              <a:buNone/>
            </a:pPr>
            <a:r>
              <a:rPr lang="en-US" sz="2000" b="1" dirty="0">
                <a:solidFill>
                  <a:srgbClr val="C9A84C"/>
                </a:solidFill>
                <a:latin typeface="Calibri" panose="020F0502020204030204" pitchFamily="34" charset="0"/>
                <a:ea typeface="Calibri" panose="020F0502020204030204" pitchFamily="34" charset="-122"/>
                <a:cs typeface="Calibri" panose="020F0502020204030204" pitchFamily="34" charset="-120"/>
              </a:rPr>
              <a:t>2</a:t>
            </a:r>
            <a:endParaRPr lang="en-US" sz="2000" dirty="0"/>
          </a:p>
        </p:txBody>
      </p:sp>
      <p:sp>
        <p:nvSpPr>
          <p:cNvPr id="14" name="Text 12"/>
          <p:cNvSpPr/>
          <p:nvPr/>
        </p:nvSpPr>
        <p:spPr>
          <a:xfrm>
            <a:off x="914400" y="2468880"/>
            <a:ext cx="3200400" cy="347472"/>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Application Layer</a:t>
            </a:r>
            <a:endParaRPr lang="en-US" sz="1400" dirty="0"/>
          </a:p>
        </p:txBody>
      </p:sp>
      <p:sp>
        <p:nvSpPr>
          <p:cNvPr id="15" name="Text 13"/>
          <p:cNvSpPr/>
          <p:nvPr/>
        </p:nvSpPr>
        <p:spPr>
          <a:xfrm>
            <a:off x="914400" y="2834640"/>
            <a:ext cx="3200400" cy="274320"/>
          </a:xfrm>
          <a:prstGeom prst="rect">
            <a:avLst/>
          </a:prstGeom>
          <a:noFill/>
        </p:spPr>
        <p:txBody>
          <a:bodyPr wrap="square" rtlCol="0" anchor="ctr"/>
          <a:lstStyle/>
          <a:p>
            <a:pPr marL="0" indent="0">
              <a:buNone/>
            </a:pPr>
            <a:r>
              <a:rPr lang="en-US" sz="1100" dirty="0">
                <a:solidFill>
                  <a:srgbClr val="C9A84C"/>
                </a:solidFill>
                <a:latin typeface="Calibri" panose="020F0502020204030204" pitchFamily="34" charset="0"/>
                <a:ea typeface="Calibri" panose="020F0502020204030204" pitchFamily="34" charset="-122"/>
                <a:cs typeface="Calibri" panose="020F0502020204030204" pitchFamily="34" charset="-120"/>
              </a:rPr>
              <a:t>Node.js  •  Express.js</a:t>
            </a:r>
            <a:endParaRPr lang="en-US" sz="1100" dirty="0"/>
          </a:p>
        </p:txBody>
      </p:sp>
      <p:sp>
        <p:nvSpPr>
          <p:cNvPr id="16" name="Text 14"/>
          <p:cNvSpPr/>
          <p:nvPr/>
        </p:nvSpPr>
        <p:spPr>
          <a:xfrm>
            <a:off x="4206240" y="2468880"/>
            <a:ext cx="4480560" cy="960120"/>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This layer handles the logic of the entire system. It processes incoming user requests, enforces authentication (who can log in and what they can see), manages API routes, and connects the frontend to the database. All business rules — like who can upload grades — are enforced here.</a:t>
            </a:r>
            <a:endParaRPr lang="en-US" sz="1100" dirty="0"/>
          </a:p>
        </p:txBody>
      </p:sp>
      <p:sp>
        <p:nvSpPr>
          <p:cNvPr id="17" name="Shape 15"/>
          <p:cNvSpPr/>
          <p:nvPr/>
        </p:nvSpPr>
        <p:spPr>
          <a:xfrm>
            <a:off x="320040" y="3639312"/>
            <a:ext cx="8503920" cy="1143000"/>
          </a:xfrm>
          <a:prstGeom prst="rect">
            <a:avLst/>
          </a:prstGeom>
          <a:solidFill>
            <a:srgbClr val="7A1020"/>
          </a:solidFill>
          <a:ln w="12700">
            <a:solidFill>
              <a:srgbClr val="7A1020"/>
            </a:solidFill>
            <a:prstDash val="solid"/>
          </a:ln>
        </p:spPr>
      </p:sp>
      <p:sp>
        <p:nvSpPr>
          <p:cNvPr id="18" name="Shape 16"/>
          <p:cNvSpPr/>
          <p:nvPr/>
        </p:nvSpPr>
        <p:spPr>
          <a:xfrm>
            <a:off x="320040" y="3639312"/>
            <a:ext cx="502920" cy="1143000"/>
          </a:xfrm>
          <a:prstGeom prst="rect">
            <a:avLst/>
          </a:prstGeom>
          <a:solidFill>
            <a:srgbClr val="3B0009"/>
          </a:solidFill>
          <a:ln w="12700">
            <a:solidFill>
              <a:srgbClr val="3B0009"/>
            </a:solidFill>
            <a:prstDash val="solid"/>
          </a:ln>
        </p:spPr>
      </p:sp>
      <p:sp>
        <p:nvSpPr>
          <p:cNvPr id="19" name="Text 17"/>
          <p:cNvSpPr/>
          <p:nvPr/>
        </p:nvSpPr>
        <p:spPr>
          <a:xfrm>
            <a:off x="320040" y="3986784"/>
            <a:ext cx="502920" cy="457200"/>
          </a:xfrm>
          <a:prstGeom prst="rect">
            <a:avLst/>
          </a:prstGeom>
          <a:noFill/>
        </p:spPr>
        <p:txBody>
          <a:bodyPr wrap="square" rtlCol="0" anchor="ctr"/>
          <a:lstStyle/>
          <a:p>
            <a:pPr marL="0" indent="0" algn="ctr">
              <a:buNone/>
            </a:pPr>
            <a:r>
              <a:rPr lang="en-US" sz="2000" b="1" dirty="0">
                <a:solidFill>
                  <a:srgbClr val="C9A84C"/>
                </a:solidFill>
                <a:latin typeface="Calibri" panose="020F0502020204030204" pitchFamily="34" charset="0"/>
                <a:ea typeface="Calibri" panose="020F0502020204030204" pitchFamily="34" charset="-122"/>
                <a:cs typeface="Calibri" panose="020F0502020204030204" pitchFamily="34" charset="-120"/>
              </a:rPr>
              <a:t>3</a:t>
            </a:r>
            <a:endParaRPr lang="en-US" sz="2000" dirty="0"/>
          </a:p>
        </p:txBody>
      </p:sp>
      <p:sp>
        <p:nvSpPr>
          <p:cNvPr id="20" name="Text 18"/>
          <p:cNvSpPr/>
          <p:nvPr/>
        </p:nvSpPr>
        <p:spPr>
          <a:xfrm>
            <a:off x="914400" y="3730752"/>
            <a:ext cx="3200400" cy="347472"/>
          </a:xfrm>
          <a:prstGeom prst="rect">
            <a:avLst/>
          </a:prstGeom>
          <a:noFill/>
        </p:spPr>
        <p:txBody>
          <a:bodyPr wrap="square" rtlCol="0" anchor="ct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Layer</a:t>
            </a:r>
            <a:endParaRPr lang="en-US" sz="1400" dirty="0"/>
          </a:p>
        </p:txBody>
      </p:sp>
      <p:sp>
        <p:nvSpPr>
          <p:cNvPr id="21" name="Text 19"/>
          <p:cNvSpPr/>
          <p:nvPr/>
        </p:nvSpPr>
        <p:spPr>
          <a:xfrm>
            <a:off x="914400" y="4096512"/>
            <a:ext cx="3200400" cy="274320"/>
          </a:xfrm>
          <a:prstGeom prst="rect">
            <a:avLst/>
          </a:prstGeom>
          <a:noFill/>
        </p:spPr>
        <p:txBody>
          <a:bodyPr wrap="square" rtlCol="0" anchor="ctr"/>
          <a:lstStyle/>
          <a:p>
            <a:pPr marL="0" indent="0">
              <a:buNone/>
            </a:pPr>
            <a:r>
              <a:rPr lang="en-US" sz="1100" dirty="0">
                <a:solidFill>
                  <a:srgbClr val="C9A84C"/>
                </a:solidFill>
                <a:latin typeface="Calibri" panose="020F0502020204030204" pitchFamily="34" charset="0"/>
                <a:ea typeface="Calibri" panose="020F0502020204030204" pitchFamily="34" charset="-122"/>
                <a:cs typeface="Calibri" panose="020F0502020204030204" pitchFamily="34" charset="-120"/>
              </a:rPr>
              <a:t>MySQL</a:t>
            </a:r>
            <a:endParaRPr lang="en-US" sz="1100" dirty="0"/>
          </a:p>
        </p:txBody>
      </p:sp>
      <p:sp>
        <p:nvSpPr>
          <p:cNvPr id="22" name="Text 20"/>
          <p:cNvSpPr/>
          <p:nvPr/>
        </p:nvSpPr>
        <p:spPr>
          <a:xfrm>
            <a:off x="4206240" y="3730752"/>
            <a:ext cx="4480560" cy="960120"/>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This is where all data is permanently stored and managed. It holds student records, user accounts, grades per quarter, subjects, sections, school years, and uploaded files. MySQL was chosen for its reliability, data integrity, and compatibility with Node.js.</a:t>
            </a:r>
            <a:endParaRPr lang="en-US" sz="1100" dirty="0"/>
          </a:p>
        </p:txBody>
      </p:sp>
      <p:sp>
        <p:nvSpPr>
          <p:cNvPr id="23" name="Shape 21"/>
          <p:cNvSpPr/>
          <p:nvPr/>
        </p:nvSpPr>
        <p:spPr>
          <a:xfrm>
            <a:off x="0" y="4956048"/>
            <a:ext cx="9144000" cy="182880"/>
          </a:xfrm>
          <a:prstGeom prst="rect">
            <a:avLst/>
          </a:prstGeom>
          <a:solidFill>
            <a:srgbClr val="3B0009"/>
          </a:solidFill>
          <a:ln w="12700">
            <a:solidFill>
              <a:srgbClr val="3B0009"/>
            </a:solidFill>
            <a:prstDash val="solid"/>
          </a:ln>
        </p:spPr>
        <p:txBody>
          <a:bodyPr/>
          <a:p>
            <a:endParaRPr lang="en-US"/>
          </a:p>
        </p:txBody>
      </p:sp>
      <p:sp>
        <p:nvSpPr>
          <p:cNvPr id="24" name="Text 22"/>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 Flow Diagram (DFD)</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Text 3"/>
          <p:cNvSpPr/>
          <p:nvPr/>
        </p:nvSpPr>
        <p:spPr>
          <a:xfrm>
            <a:off x="411480" y="1078992"/>
            <a:ext cx="8321040" cy="457200"/>
          </a:xfrm>
          <a:prstGeom prst="rect">
            <a:avLst/>
          </a:prstGeom>
          <a:noFill/>
        </p:spPr>
        <p:txBody>
          <a:bodyPr wrap="square" rtlCol="0" anchor="ctr"/>
          <a:lstStyle/>
          <a:p>
            <a:pPr marL="0" indent="0">
              <a:buNone/>
            </a:pPr>
            <a:r>
              <a:rPr lang="en-US" sz="1250" dirty="0">
                <a:solidFill>
                  <a:srgbClr val="2E0A10"/>
                </a:solidFill>
                <a:latin typeface="Calibri" panose="020F0502020204030204" pitchFamily="34" charset="0"/>
                <a:ea typeface="Calibri" panose="020F0502020204030204" pitchFamily="34" charset="-122"/>
                <a:cs typeface="Calibri" panose="020F0502020204030204" pitchFamily="34" charset="-120"/>
              </a:rPr>
              <a:t>The Data Flow Diagram shows how information moves within the system — from user input, through the application, to the database, and back to the user.</a:t>
            </a:r>
            <a:endParaRPr lang="en-US" sz="1250" dirty="0"/>
          </a:p>
        </p:txBody>
      </p:sp>
      <p:sp>
        <p:nvSpPr>
          <p:cNvPr id="6" name="Shape 4"/>
          <p:cNvSpPr/>
          <p:nvPr/>
        </p:nvSpPr>
        <p:spPr>
          <a:xfrm>
            <a:off x="365760" y="1783080"/>
            <a:ext cx="1234440" cy="502920"/>
          </a:xfrm>
          <a:prstGeom prst="rect">
            <a:avLst/>
          </a:prstGeom>
          <a:solidFill>
            <a:srgbClr val="C9A84C"/>
          </a:solidFill>
          <a:ln w="12700">
            <a:solidFill>
              <a:srgbClr val="C9A84C"/>
            </a:solidFill>
            <a:prstDash val="solid"/>
          </a:ln>
        </p:spPr>
      </p:sp>
      <p:sp>
        <p:nvSpPr>
          <p:cNvPr id="7" name="Text 5"/>
          <p:cNvSpPr/>
          <p:nvPr/>
        </p:nvSpPr>
        <p:spPr>
          <a:xfrm>
            <a:off x="365760" y="1856232"/>
            <a:ext cx="1234440" cy="347472"/>
          </a:xfrm>
          <a:prstGeom prst="rect">
            <a:avLst/>
          </a:prstGeom>
          <a:noFill/>
        </p:spPr>
        <p:txBody>
          <a:bodyPr wrap="square" rtlCol="0" anchor="ctr"/>
          <a:lstStyle/>
          <a:p>
            <a:pPr marL="0" indent="0" algn="ctr">
              <a:buNone/>
            </a:pPr>
            <a:r>
              <a:rPr lang="en-US" sz="1100" b="1" dirty="0">
                <a:solidFill>
                  <a:srgbClr val="3B0009"/>
                </a:solidFill>
                <a:latin typeface="Calibri" panose="020F0502020204030204" pitchFamily="34" charset="0"/>
                <a:ea typeface="Calibri" panose="020F0502020204030204" pitchFamily="34" charset="-122"/>
                <a:cs typeface="Calibri" panose="020F0502020204030204" pitchFamily="34" charset="-120"/>
              </a:rPr>
              <a:t>ADMIN</a:t>
            </a:r>
            <a:endParaRPr lang="en-US" sz="1100" dirty="0"/>
          </a:p>
        </p:txBody>
      </p:sp>
      <p:sp>
        <p:nvSpPr>
          <p:cNvPr id="8" name="Shape 6"/>
          <p:cNvSpPr/>
          <p:nvPr/>
        </p:nvSpPr>
        <p:spPr>
          <a:xfrm>
            <a:off x="365760" y="2926080"/>
            <a:ext cx="1234440" cy="502920"/>
          </a:xfrm>
          <a:prstGeom prst="rect">
            <a:avLst/>
          </a:prstGeom>
          <a:solidFill>
            <a:srgbClr val="C9A84C"/>
          </a:solidFill>
          <a:ln w="12700">
            <a:solidFill>
              <a:srgbClr val="C9A84C"/>
            </a:solidFill>
            <a:prstDash val="solid"/>
          </a:ln>
        </p:spPr>
      </p:sp>
      <p:sp>
        <p:nvSpPr>
          <p:cNvPr id="9" name="Text 7"/>
          <p:cNvSpPr/>
          <p:nvPr/>
        </p:nvSpPr>
        <p:spPr>
          <a:xfrm>
            <a:off x="365760" y="2999232"/>
            <a:ext cx="1234440" cy="347472"/>
          </a:xfrm>
          <a:prstGeom prst="rect">
            <a:avLst/>
          </a:prstGeom>
          <a:noFill/>
        </p:spPr>
        <p:txBody>
          <a:bodyPr wrap="square" rtlCol="0" anchor="ctr"/>
          <a:lstStyle/>
          <a:p>
            <a:pPr marL="0" indent="0" algn="ctr">
              <a:buNone/>
            </a:pPr>
            <a:r>
              <a:rPr lang="en-US" sz="1100" b="1" dirty="0">
                <a:solidFill>
                  <a:srgbClr val="3B0009"/>
                </a:solidFill>
                <a:latin typeface="Calibri" panose="020F0502020204030204" pitchFamily="34" charset="0"/>
                <a:ea typeface="Calibri" panose="020F0502020204030204" pitchFamily="34" charset="-122"/>
                <a:cs typeface="Calibri" panose="020F0502020204030204" pitchFamily="34" charset="-120"/>
              </a:rPr>
              <a:t>TEACHER</a:t>
            </a:r>
            <a:endParaRPr lang="en-US" sz="1100" dirty="0"/>
          </a:p>
        </p:txBody>
      </p:sp>
      <p:sp>
        <p:nvSpPr>
          <p:cNvPr id="10" name="Shape 8"/>
          <p:cNvSpPr/>
          <p:nvPr/>
        </p:nvSpPr>
        <p:spPr>
          <a:xfrm>
            <a:off x="365760" y="4069080"/>
            <a:ext cx="1234440" cy="502920"/>
          </a:xfrm>
          <a:prstGeom prst="rect">
            <a:avLst/>
          </a:prstGeom>
          <a:solidFill>
            <a:srgbClr val="C9A84C"/>
          </a:solidFill>
          <a:ln w="12700">
            <a:solidFill>
              <a:srgbClr val="C9A84C"/>
            </a:solidFill>
            <a:prstDash val="solid"/>
          </a:ln>
        </p:spPr>
      </p:sp>
      <p:sp>
        <p:nvSpPr>
          <p:cNvPr id="11" name="Text 9"/>
          <p:cNvSpPr/>
          <p:nvPr/>
        </p:nvSpPr>
        <p:spPr>
          <a:xfrm>
            <a:off x="365760" y="4142232"/>
            <a:ext cx="1234440" cy="347472"/>
          </a:xfrm>
          <a:prstGeom prst="rect">
            <a:avLst/>
          </a:prstGeom>
          <a:noFill/>
        </p:spPr>
        <p:txBody>
          <a:bodyPr wrap="square" rtlCol="0" anchor="ctr"/>
          <a:lstStyle/>
          <a:p>
            <a:pPr marL="0" indent="0" algn="ctr">
              <a:buNone/>
            </a:pPr>
            <a:r>
              <a:rPr lang="en-US" sz="1100" b="1" dirty="0">
                <a:solidFill>
                  <a:srgbClr val="3B0009"/>
                </a:solidFill>
                <a:latin typeface="Calibri" panose="020F0502020204030204" pitchFamily="34" charset="0"/>
                <a:ea typeface="Calibri" panose="020F0502020204030204" pitchFamily="34" charset="-122"/>
                <a:cs typeface="Calibri" panose="020F0502020204030204" pitchFamily="34" charset="-120"/>
              </a:rPr>
              <a:t>PARENT</a:t>
            </a:r>
            <a:endParaRPr lang="en-US" sz="1100" dirty="0"/>
          </a:p>
        </p:txBody>
      </p:sp>
      <p:sp>
        <p:nvSpPr>
          <p:cNvPr id="12" name="Shape 10"/>
          <p:cNvSpPr/>
          <p:nvPr/>
        </p:nvSpPr>
        <p:spPr>
          <a:xfrm>
            <a:off x="2926080" y="1920240"/>
            <a:ext cx="3200400" cy="2377440"/>
          </a:xfrm>
          <a:prstGeom prst="rect">
            <a:avLst/>
          </a:prstGeom>
          <a:solidFill>
            <a:srgbClr val="6B0F1A"/>
          </a:solidFill>
          <a:ln w="12700">
            <a:solidFill>
              <a:srgbClr val="6B0F1A"/>
            </a:solidFill>
            <a:prstDash val="solid"/>
          </a:ln>
        </p:spPr>
      </p:sp>
      <p:sp>
        <p:nvSpPr>
          <p:cNvPr id="13" name="Text 11"/>
          <p:cNvSpPr/>
          <p:nvPr/>
        </p:nvSpPr>
        <p:spPr>
          <a:xfrm>
            <a:off x="2926080" y="2011680"/>
            <a:ext cx="3200400" cy="347472"/>
          </a:xfrm>
          <a:prstGeom prst="rect">
            <a:avLst/>
          </a:prstGeom>
          <a:noFill/>
        </p:spPr>
        <p:txBody>
          <a:bodyPr wrap="square" rtlCol="0" anchor="ctr"/>
          <a:lstStyle/>
          <a:p>
            <a:pPr marL="0" indent="0" algn="ctr">
              <a:buNone/>
            </a:pPr>
            <a:r>
              <a:rPr lang="en-US" sz="1300" b="1" dirty="0">
                <a:solidFill>
                  <a:srgbClr val="C9A84C"/>
                </a:solidFill>
                <a:latin typeface="Calibri" panose="020F0502020204030204" pitchFamily="34" charset="0"/>
                <a:ea typeface="Calibri" panose="020F0502020204030204" pitchFamily="34" charset="-122"/>
                <a:cs typeface="Calibri" panose="020F0502020204030204" pitchFamily="34" charset="-120"/>
              </a:rPr>
              <a:t>SYSTEM</a:t>
            </a:r>
            <a:endParaRPr lang="en-US" sz="1300" dirty="0"/>
          </a:p>
        </p:txBody>
      </p:sp>
      <p:sp>
        <p:nvSpPr>
          <p:cNvPr id="14" name="Text 12"/>
          <p:cNvSpPr/>
          <p:nvPr/>
        </p:nvSpPr>
        <p:spPr>
          <a:xfrm>
            <a:off x="3063240" y="2423160"/>
            <a:ext cx="2926080" cy="1691640"/>
          </a:xfrm>
          <a:prstGeom prst="rect">
            <a:avLst/>
          </a:prstGeom>
          <a:noFill/>
        </p:spPr>
        <p:txBody>
          <a:bodyPr wrap="square" rtlCol="0" anchor="ctr"/>
          <a:lstStyle/>
          <a:p>
            <a:pPr marL="342900" indent="-342900">
              <a:spcAft>
                <a:spcPts val="5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Authentication</a:t>
            </a:r>
            <a:endParaRPr lang="en-US" sz="1150" dirty="0"/>
          </a:p>
          <a:p>
            <a:pPr marL="342900" indent="-342900">
              <a:spcAft>
                <a:spcPts val="5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Grade Upload</a:t>
            </a:r>
            <a:endParaRPr lang="en-US" sz="1150" dirty="0"/>
          </a:p>
          <a:p>
            <a:pPr marL="342900" indent="-342900">
              <a:spcAft>
                <a:spcPts val="5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Grade Retrieval</a:t>
            </a:r>
            <a:endParaRPr lang="en-US" sz="1150" dirty="0"/>
          </a:p>
          <a:p>
            <a:pPr marL="342900" indent="-342900">
              <a:spcAft>
                <a:spcPts val="5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User Management</a:t>
            </a:r>
            <a:endParaRPr lang="en-US" sz="1150" dirty="0"/>
          </a:p>
          <a:p>
            <a:pPr marL="342900" indent="-342900">
              <a:spcAft>
                <a:spcPts val="5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Announcements</a:t>
            </a:r>
            <a:endParaRPr lang="en-US" sz="1150" dirty="0"/>
          </a:p>
        </p:txBody>
      </p:sp>
      <p:sp>
        <p:nvSpPr>
          <p:cNvPr id="15" name="Shape 13"/>
          <p:cNvSpPr/>
          <p:nvPr/>
        </p:nvSpPr>
        <p:spPr>
          <a:xfrm>
            <a:off x="6949440" y="2331720"/>
            <a:ext cx="1920240" cy="1554480"/>
          </a:xfrm>
          <a:prstGeom prst="rect">
            <a:avLst/>
          </a:prstGeom>
          <a:solidFill>
            <a:srgbClr val="9B1D28"/>
          </a:solidFill>
          <a:ln w="12700">
            <a:solidFill>
              <a:srgbClr val="9B1D28"/>
            </a:solidFill>
            <a:prstDash val="solid"/>
          </a:ln>
        </p:spPr>
      </p:sp>
      <p:sp>
        <p:nvSpPr>
          <p:cNvPr id="16" name="Text 14"/>
          <p:cNvSpPr/>
          <p:nvPr/>
        </p:nvSpPr>
        <p:spPr>
          <a:xfrm>
            <a:off x="6949440" y="2606040"/>
            <a:ext cx="1920240" cy="822960"/>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MySQL</a:t>
            </a:r>
            <a:endParaRPr lang="en-US" sz="1200" dirty="0"/>
          </a:p>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DATABASE</a:t>
            </a:r>
            <a:endParaRPr lang="en-US" sz="1200" dirty="0"/>
          </a:p>
        </p:txBody>
      </p:sp>
      <p:sp>
        <p:nvSpPr>
          <p:cNvPr id="17" name="Shape 15"/>
          <p:cNvSpPr/>
          <p:nvPr/>
        </p:nvSpPr>
        <p:spPr>
          <a:xfrm>
            <a:off x="1600200" y="2029968"/>
            <a:ext cx="1325880" cy="0"/>
          </a:xfrm>
          <a:prstGeom prst="line">
            <a:avLst/>
          </a:prstGeom>
          <a:noFill/>
          <a:ln w="19050">
            <a:solidFill>
              <a:srgbClr val="C9A84C"/>
            </a:solidFill>
            <a:prstDash val="solid"/>
          </a:ln>
        </p:spPr>
      </p:sp>
      <p:sp>
        <p:nvSpPr>
          <p:cNvPr id="18" name="Shape 16"/>
          <p:cNvSpPr/>
          <p:nvPr/>
        </p:nvSpPr>
        <p:spPr>
          <a:xfrm>
            <a:off x="1600200" y="3172968"/>
            <a:ext cx="1325880" cy="0"/>
          </a:xfrm>
          <a:prstGeom prst="line">
            <a:avLst/>
          </a:prstGeom>
          <a:noFill/>
          <a:ln w="19050">
            <a:solidFill>
              <a:srgbClr val="C9A84C"/>
            </a:solidFill>
            <a:prstDash val="solid"/>
          </a:ln>
        </p:spPr>
      </p:sp>
      <p:sp>
        <p:nvSpPr>
          <p:cNvPr id="19" name="Shape 17"/>
          <p:cNvSpPr/>
          <p:nvPr/>
        </p:nvSpPr>
        <p:spPr>
          <a:xfrm>
            <a:off x="1600200" y="4315968"/>
            <a:ext cx="1325880" cy="0"/>
          </a:xfrm>
          <a:prstGeom prst="line">
            <a:avLst/>
          </a:prstGeom>
          <a:noFill/>
          <a:ln w="19050">
            <a:solidFill>
              <a:srgbClr val="C9A84C"/>
            </a:solidFill>
            <a:prstDash val="solid"/>
          </a:ln>
        </p:spPr>
      </p:sp>
      <p:sp>
        <p:nvSpPr>
          <p:cNvPr id="20" name="Shape 18"/>
          <p:cNvSpPr/>
          <p:nvPr/>
        </p:nvSpPr>
        <p:spPr>
          <a:xfrm>
            <a:off x="6126480" y="3108960"/>
            <a:ext cx="822960" cy="0"/>
          </a:xfrm>
          <a:prstGeom prst="line">
            <a:avLst/>
          </a:prstGeom>
          <a:noFill/>
          <a:ln w="19050">
            <a:solidFill>
              <a:srgbClr val="C9A84C"/>
            </a:solidFill>
            <a:prstDash val="solid"/>
          </a:ln>
        </p:spPr>
      </p:sp>
      <p:sp>
        <p:nvSpPr>
          <p:cNvPr id="21" name="Text 19"/>
          <p:cNvSpPr/>
          <p:nvPr/>
        </p:nvSpPr>
        <p:spPr>
          <a:xfrm>
            <a:off x="1645920" y="1737360"/>
            <a:ext cx="1234440" cy="256032"/>
          </a:xfrm>
          <a:prstGeom prst="rect">
            <a:avLst/>
          </a:prstGeom>
          <a:noFill/>
        </p:spPr>
        <p:txBody>
          <a:bodyPr wrap="square" rtlCol="0" anchor="ctr"/>
          <a:lstStyle/>
          <a:p>
            <a:pPr marL="0" indent="0">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Creates accounts</a:t>
            </a:r>
            <a:endParaRPr lang="en-US" sz="900" dirty="0"/>
          </a:p>
        </p:txBody>
      </p:sp>
      <p:sp>
        <p:nvSpPr>
          <p:cNvPr id="22" name="Text 20"/>
          <p:cNvSpPr/>
          <p:nvPr/>
        </p:nvSpPr>
        <p:spPr>
          <a:xfrm>
            <a:off x="1645920" y="2907792"/>
            <a:ext cx="1234440" cy="256032"/>
          </a:xfrm>
          <a:prstGeom prst="rect">
            <a:avLst/>
          </a:prstGeom>
          <a:noFill/>
        </p:spPr>
        <p:txBody>
          <a:bodyPr wrap="square" rtlCol="0" anchor="ctr"/>
          <a:lstStyle/>
          <a:p>
            <a:pPr marL="0" indent="0">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Uploads grades</a:t>
            </a:r>
            <a:endParaRPr lang="en-US" sz="900" dirty="0"/>
          </a:p>
        </p:txBody>
      </p:sp>
      <p:sp>
        <p:nvSpPr>
          <p:cNvPr id="23" name="Text 21"/>
          <p:cNvSpPr/>
          <p:nvPr/>
        </p:nvSpPr>
        <p:spPr>
          <a:xfrm>
            <a:off x="1645920" y="4059936"/>
            <a:ext cx="1234440" cy="256032"/>
          </a:xfrm>
          <a:prstGeom prst="rect">
            <a:avLst/>
          </a:prstGeom>
          <a:noFill/>
        </p:spPr>
        <p:txBody>
          <a:bodyPr wrap="square" rtlCol="0" anchor="ctr"/>
          <a:lstStyle/>
          <a:p>
            <a:pPr marL="0" indent="0">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Views grades</a:t>
            </a:r>
            <a:endParaRPr lang="en-US" sz="900" dirty="0"/>
          </a:p>
        </p:txBody>
      </p:sp>
      <p:sp>
        <p:nvSpPr>
          <p:cNvPr id="24" name="Text 22"/>
          <p:cNvSpPr/>
          <p:nvPr/>
        </p:nvSpPr>
        <p:spPr>
          <a:xfrm>
            <a:off x="6144768" y="2926080"/>
            <a:ext cx="822960" cy="256032"/>
          </a:xfrm>
          <a:prstGeom prst="rect">
            <a:avLst/>
          </a:prstGeom>
          <a:noFill/>
        </p:spPr>
        <p:txBody>
          <a:bodyPr wrap="square" rtlCol="0" anchor="ctr"/>
          <a:lstStyle/>
          <a:p>
            <a:pPr marL="0" indent="0">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Read/Write</a:t>
            </a:r>
            <a:endParaRPr lang="en-US" sz="900" dirty="0"/>
          </a:p>
        </p:txBody>
      </p:sp>
      <p:sp>
        <p:nvSpPr>
          <p:cNvPr id="25" name="Shape 23"/>
          <p:cNvSpPr/>
          <p:nvPr/>
        </p:nvSpPr>
        <p:spPr>
          <a:xfrm>
            <a:off x="0" y="4956048"/>
            <a:ext cx="9144000" cy="182880"/>
          </a:xfrm>
          <a:prstGeom prst="rect">
            <a:avLst/>
          </a:prstGeom>
          <a:solidFill>
            <a:srgbClr val="3B0009"/>
          </a:solidFill>
          <a:ln w="12700">
            <a:solidFill>
              <a:srgbClr val="3B0009"/>
            </a:solidFill>
            <a:prstDash val="solid"/>
          </a:ln>
        </p:spPr>
      </p:sp>
      <p:sp>
        <p:nvSpPr>
          <p:cNvPr id="26" name="Text 24"/>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B1D28"/>
          </a:solidFill>
          <a:ln w="12700">
            <a:solidFill>
              <a:srgbClr val="9B1D28"/>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Database Design (ERD Overview)</a:t>
            </a:r>
            <a:endParaRPr lang="en-US" sz="2800" dirty="0"/>
          </a:p>
        </p:txBody>
      </p:sp>
      <p:sp>
        <p:nvSpPr>
          <p:cNvPr id="4" name="Text 2"/>
          <p:cNvSpPr/>
          <p:nvPr/>
        </p:nvSpPr>
        <p:spPr>
          <a:xfrm>
            <a:off x="320040" y="749808"/>
            <a:ext cx="8503920" cy="274320"/>
          </a:xfrm>
          <a:prstGeom prst="rect">
            <a:avLst/>
          </a:prstGeom>
          <a:noFill/>
        </p:spPr>
        <p:txBody>
          <a:bodyPr wrap="square" rtlCol="0" anchor="ctr"/>
          <a:lstStyle/>
          <a:p>
            <a:pPr marL="0" indent="0">
              <a:buNone/>
            </a:pPr>
            <a:r>
              <a:rPr lang="en-US" sz="1200" dirty="0">
                <a:solidFill>
                  <a:srgbClr val="A87070"/>
                </a:solidFill>
                <a:latin typeface="Calibri" panose="020F0502020204030204" pitchFamily="34" charset="0"/>
                <a:ea typeface="Calibri" panose="020F0502020204030204" pitchFamily="34" charset="-122"/>
                <a:cs typeface="Calibri" panose="020F0502020204030204" pitchFamily="34" charset="-120"/>
              </a:rPr>
              <a:t>The database consists of 11 interrelated tables supporting 3 user types: Admin, Teacher, and Parent.</a:t>
            </a:r>
            <a:endParaRPr lang="en-US" sz="1200" dirty="0"/>
          </a:p>
        </p:txBody>
      </p:sp>
      <p:sp>
        <p:nvSpPr>
          <p:cNvPr id="5" name="Shape 3"/>
          <p:cNvSpPr/>
          <p:nvPr/>
        </p:nvSpPr>
        <p:spPr>
          <a:xfrm>
            <a:off x="320040" y="1115568"/>
            <a:ext cx="4069080" cy="530352"/>
          </a:xfrm>
          <a:prstGeom prst="rect">
            <a:avLst/>
          </a:prstGeom>
          <a:solidFill>
            <a:srgbClr val="FFFFFF"/>
          </a:solidFill>
          <a:ln w="6350">
            <a:solidFill>
              <a:srgbClr val="E8C5C8"/>
            </a:solidFill>
            <a:prstDash val="solid"/>
          </a:ln>
        </p:spPr>
      </p:sp>
      <p:sp>
        <p:nvSpPr>
          <p:cNvPr id="6" name="Shape 4"/>
          <p:cNvSpPr/>
          <p:nvPr/>
        </p:nvSpPr>
        <p:spPr>
          <a:xfrm>
            <a:off x="320040" y="1115568"/>
            <a:ext cx="73152" cy="530352"/>
          </a:xfrm>
          <a:prstGeom prst="rect">
            <a:avLst/>
          </a:prstGeom>
          <a:solidFill>
            <a:srgbClr val="6B0F1A"/>
          </a:solidFill>
          <a:ln w="12700">
            <a:solidFill>
              <a:srgbClr val="6B0F1A"/>
            </a:solidFill>
            <a:prstDash val="solid"/>
          </a:ln>
        </p:spPr>
      </p:sp>
      <p:sp>
        <p:nvSpPr>
          <p:cNvPr id="7" name="Text 5"/>
          <p:cNvSpPr/>
          <p:nvPr/>
        </p:nvSpPr>
        <p:spPr>
          <a:xfrm>
            <a:off x="484632" y="1161288"/>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Users</a:t>
            </a:r>
            <a:endParaRPr lang="en-US" sz="1100" dirty="0"/>
          </a:p>
        </p:txBody>
      </p:sp>
      <p:sp>
        <p:nvSpPr>
          <p:cNvPr id="8" name="Text 6"/>
          <p:cNvSpPr/>
          <p:nvPr/>
        </p:nvSpPr>
        <p:spPr>
          <a:xfrm>
            <a:off x="484632" y="1389888"/>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Stores login credentials and role (Admin, Teacher, Parent)</a:t>
            </a:r>
            <a:endParaRPr lang="en-US" sz="1000" dirty="0"/>
          </a:p>
        </p:txBody>
      </p:sp>
      <p:sp>
        <p:nvSpPr>
          <p:cNvPr id="9" name="Shape 7"/>
          <p:cNvSpPr/>
          <p:nvPr/>
        </p:nvSpPr>
        <p:spPr>
          <a:xfrm>
            <a:off x="320040" y="1737360"/>
            <a:ext cx="4069080" cy="530352"/>
          </a:xfrm>
          <a:prstGeom prst="rect">
            <a:avLst/>
          </a:prstGeom>
          <a:solidFill>
            <a:srgbClr val="FAF0F1"/>
          </a:solidFill>
          <a:ln w="6350">
            <a:solidFill>
              <a:srgbClr val="E8C5C8"/>
            </a:solidFill>
            <a:prstDash val="solid"/>
          </a:ln>
        </p:spPr>
      </p:sp>
      <p:sp>
        <p:nvSpPr>
          <p:cNvPr id="10" name="Shape 8"/>
          <p:cNvSpPr/>
          <p:nvPr/>
        </p:nvSpPr>
        <p:spPr>
          <a:xfrm>
            <a:off x="320040" y="1737360"/>
            <a:ext cx="73152" cy="530352"/>
          </a:xfrm>
          <a:prstGeom prst="rect">
            <a:avLst/>
          </a:prstGeom>
          <a:solidFill>
            <a:srgbClr val="9B1D28"/>
          </a:solidFill>
          <a:ln w="12700">
            <a:solidFill>
              <a:srgbClr val="9B1D28"/>
            </a:solidFill>
            <a:prstDash val="solid"/>
          </a:ln>
        </p:spPr>
      </p:sp>
      <p:sp>
        <p:nvSpPr>
          <p:cNvPr id="11" name="Text 9"/>
          <p:cNvSpPr/>
          <p:nvPr/>
        </p:nvSpPr>
        <p:spPr>
          <a:xfrm>
            <a:off x="484632" y="1783080"/>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Students</a:t>
            </a:r>
            <a:endParaRPr lang="en-US" sz="1100" dirty="0"/>
          </a:p>
        </p:txBody>
      </p:sp>
      <p:sp>
        <p:nvSpPr>
          <p:cNvPr id="12" name="Text 10"/>
          <p:cNvSpPr/>
          <p:nvPr/>
        </p:nvSpPr>
        <p:spPr>
          <a:xfrm>
            <a:off x="484632" y="2011680"/>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Holds student records linked to parent accounts</a:t>
            </a:r>
            <a:endParaRPr lang="en-US" sz="1000" dirty="0"/>
          </a:p>
        </p:txBody>
      </p:sp>
      <p:sp>
        <p:nvSpPr>
          <p:cNvPr id="13" name="Shape 11"/>
          <p:cNvSpPr/>
          <p:nvPr/>
        </p:nvSpPr>
        <p:spPr>
          <a:xfrm>
            <a:off x="320040" y="2359152"/>
            <a:ext cx="4069080" cy="530352"/>
          </a:xfrm>
          <a:prstGeom prst="rect">
            <a:avLst/>
          </a:prstGeom>
          <a:solidFill>
            <a:srgbClr val="FFFFFF"/>
          </a:solidFill>
          <a:ln w="6350">
            <a:solidFill>
              <a:srgbClr val="E8C5C8"/>
            </a:solidFill>
            <a:prstDash val="solid"/>
          </a:ln>
        </p:spPr>
      </p:sp>
      <p:sp>
        <p:nvSpPr>
          <p:cNvPr id="14" name="Shape 12"/>
          <p:cNvSpPr/>
          <p:nvPr/>
        </p:nvSpPr>
        <p:spPr>
          <a:xfrm>
            <a:off x="320040" y="2359152"/>
            <a:ext cx="73152" cy="530352"/>
          </a:xfrm>
          <a:prstGeom prst="rect">
            <a:avLst/>
          </a:prstGeom>
          <a:solidFill>
            <a:srgbClr val="6B0F1A"/>
          </a:solidFill>
          <a:ln w="12700">
            <a:solidFill>
              <a:srgbClr val="6B0F1A"/>
            </a:solidFill>
            <a:prstDash val="solid"/>
          </a:ln>
        </p:spPr>
      </p:sp>
      <p:sp>
        <p:nvSpPr>
          <p:cNvPr id="15" name="Text 13"/>
          <p:cNvSpPr/>
          <p:nvPr/>
        </p:nvSpPr>
        <p:spPr>
          <a:xfrm>
            <a:off x="484632" y="2404872"/>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Teachers</a:t>
            </a:r>
            <a:endParaRPr lang="en-US" sz="1100" dirty="0"/>
          </a:p>
        </p:txBody>
      </p:sp>
      <p:sp>
        <p:nvSpPr>
          <p:cNvPr id="16" name="Text 14"/>
          <p:cNvSpPr/>
          <p:nvPr/>
        </p:nvSpPr>
        <p:spPr>
          <a:xfrm>
            <a:off x="484632" y="2633472"/>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Contains teacher profiles and assigned classes</a:t>
            </a:r>
            <a:endParaRPr lang="en-US" sz="1000" dirty="0"/>
          </a:p>
        </p:txBody>
      </p:sp>
      <p:sp>
        <p:nvSpPr>
          <p:cNvPr id="17" name="Shape 15"/>
          <p:cNvSpPr/>
          <p:nvPr/>
        </p:nvSpPr>
        <p:spPr>
          <a:xfrm>
            <a:off x="320040" y="2980944"/>
            <a:ext cx="4069080" cy="530352"/>
          </a:xfrm>
          <a:prstGeom prst="rect">
            <a:avLst/>
          </a:prstGeom>
          <a:solidFill>
            <a:srgbClr val="FAF0F1"/>
          </a:solidFill>
          <a:ln w="6350">
            <a:solidFill>
              <a:srgbClr val="E8C5C8"/>
            </a:solidFill>
            <a:prstDash val="solid"/>
          </a:ln>
        </p:spPr>
      </p:sp>
      <p:sp>
        <p:nvSpPr>
          <p:cNvPr id="18" name="Shape 16"/>
          <p:cNvSpPr/>
          <p:nvPr/>
        </p:nvSpPr>
        <p:spPr>
          <a:xfrm>
            <a:off x="320040" y="2980944"/>
            <a:ext cx="73152" cy="530352"/>
          </a:xfrm>
          <a:prstGeom prst="rect">
            <a:avLst/>
          </a:prstGeom>
          <a:solidFill>
            <a:srgbClr val="9B1D28"/>
          </a:solidFill>
          <a:ln w="12700">
            <a:solidFill>
              <a:srgbClr val="9B1D28"/>
            </a:solidFill>
            <a:prstDash val="solid"/>
          </a:ln>
        </p:spPr>
      </p:sp>
      <p:sp>
        <p:nvSpPr>
          <p:cNvPr id="19" name="Text 17"/>
          <p:cNvSpPr/>
          <p:nvPr/>
        </p:nvSpPr>
        <p:spPr>
          <a:xfrm>
            <a:off x="484632" y="3026664"/>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School Years</a:t>
            </a:r>
            <a:endParaRPr lang="en-US" sz="1100" dirty="0"/>
          </a:p>
        </p:txBody>
      </p:sp>
      <p:sp>
        <p:nvSpPr>
          <p:cNvPr id="20" name="Text 18"/>
          <p:cNvSpPr/>
          <p:nvPr/>
        </p:nvSpPr>
        <p:spPr>
          <a:xfrm>
            <a:off x="484632" y="3255264"/>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Manages active and past school years</a:t>
            </a:r>
            <a:endParaRPr lang="en-US" sz="1000" dirty="0"/>
          </a:p>
        </p:txBody>
      </p:sp>
      <p:sp>
        <p:nvSpPr>
          <p:cNvPr id="21" name="Shape 19"/>
          <p:cNvSpPr/>
          <p:nvPr/>
        </p:nvSpPr>
        <p:spPr>
          <a:xfrm>
            <a:off x="320040" y="3602736"/>
            <a:ext cx="4069080" cy="530352"/>
          </a:xfrm>
          <a:prstGeom prst="rect">
            <a:avLst/>
          </a:prstGeom>
          <a:solidFill>
            <a:srgbClr val="FFFFFF"/>
          </a:solidFill>
          <a:ln w="6350">
            <a:solidFill>
              <a:srgbClr val="E8C5C8"/>
            </a:solidFill>
            <a:prstDash val="solid"/>
          </a:ln>
        </p:spPr>
      </p:sp>
      <p:sp>
        <p:nvSpPr>
          <p:cNvPr id="22" name="Shape 20"/>
          <p:cNvSpPr/>
          <p:nvPr/>
        </p:nvSpPr>
        <p:spPr>
          <a:xfrm>
            <a:off x="320040" y="3602736"/>
            <a:ext cx="73152" cy="530352"/>
          </a:xfrm>
          <a:prstGeom prst="rect">
            <a:avLst/>
          </a:prstGeom>
          <a:solidFill>
            <a:srgbClr val="6B0F1A"/>
          </a:solidFill>
          <a:ln w="12700">
            <a:solidFill>
              <a:srgbClr val="6B0F1A"/>
            </a:solidFill>
            <a:prstDash val="solid"/>
          </a:ln>
        </p:spPr>
      </p:sp>
      <p:sp>
        <p:nvSpPr>
          <p:cNvPr id="23" name="Text 21"/>
          <p:cNvSpPr/>
          <p:nvPr/>
        </p:nvSpPr>
        <p:spPr>
          <a:xfrm>
            <a:off x="484632" y="3648456"/>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Quarters Config</a:t>
            </a:r>
            <a:endParaRPr lang="en-US" sz="1100" dirty="0"/>
          </a:p>
        </p:txBody>
      </p:sp>
      <p:sp>
        <p:nvSpPr>
          <p:cNvPr id="24" name="Text 22"/>
          <p:cNvSpPr/>
          <p:nvPr/>
        </p:nvSpPr>
        <p:spPr>
          <a:xfrm>
            <a:off x="484632" y="3877056"/>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Defines the grading periods per school year</a:t>
            </a:r>
            <a:endParaRPr lang="en-US" sz="1000" dirty="0"/>
          </a:p>
        </p:txBody>
      </p:sp>
      <p:sp>
        <p:nvSpPr>
          <p:cNvPr id="25" name="Shape 23"/>
          <p:cNvSpPr/>
          <p:nvPr/>
        </p:nvSpPr>
        <p:spPr>
          <a:xfrm>
            <a:off x="320040" y="4224528"/>
            <a:ext cx="4069080" cy="530352"/>
          </a:xfrm>
          <a:prstGeom prst="rect">
            <a:avLst/>
          </a:prstGeom>
          <a:solidFill>
            <a:srgbClr val="FAF0F1"/>
          </a:solidFill>
          <a:ln w="6350">
            <a:solidFill>
              <a:srgbClr val="E8C5C8"/>
            </a:solidFill>
            <a:prstDash val="solid"/>
          </a:ln>
        </p:spPr>
      </p:sp>
      <p:sp>
        <p:nvSpPr>
          <p:cNvPr id="26" name="Shape 24"/>
          <p:cNvSpPr/>
          <p:nvPr/>
        </p:nvSpPr>
        <p:spPr>
          <a:xfrm>
            <a:off x="320040" y="4224528"/>
            <a:ext cx="73152" cy="530352"/>
          </a:xfrm>
          <a:prstGeom prst="rect">
            <a:avLst/>
          </a:prstGeom>
          <a:solidFill>
            <a:srgbClr val="9B1D28"/>
          </a:solidFill>
          <a:ln w="12700">
            <a:solidFill>
              <a:srgbClr val="9B1D28"/>
            </a:solidFill>
            <a:prstDash val="solid"/>
          </a:ln>
        </p:spPr>
      </p:sp>
      <p:sp>
        <p:nvSpPr>
          <p:cNvPr id="27" name="Text 25"/>
          <p:cNvSpPr/>
          <p:nvPr/>
        </p:nvSpPr>
        <p:spPr>
          <a:xfrm>
            <a:off x="484632" y="4270248"/>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Subjects</a:t>
            </a:r>
            <a:endParaRPr lang="en-US" sz="1100" dirty="0"/>
          </a:p>
        </p:txBody>
      </p:sp>
      <p:sp>
        <p:nvSpPr>
          <p:cNvPr id="28" name="Text 26"/>
          <p:cNvSpPr/>
          <p:nvPr/>
        </p:nvSpPr>
        <p:spPr>
          <a:xfrm>
            <a:off x="484632" y="4498848"/>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Lists all subjects offered per grade level</a:t>
            </a:r>
            <a:endParaRPr lang="en-US" sz="1000" dirty="0"/>
          </a:p>
        </p:txBody>
      </p:sp>
      <p:sp>
        <p:nvSpPr>
          <p:cNvPr id="29" name="Shape 27"/>
          <p:cNvSpPr/>
          <p:nvPr/>
        </p:nvSpPr>
        <p:spPr>
          <a:xfrm>
            <a:off x="4663440" y="1115568"/>
            <a:ext cx="4069080" cy="530352"/>
          </a:xfrm>
          <a:prstGeom prst="rect">
            <a:avLst/>
          </a:prstGeom>
          <a:solidFill>
            <a:srgbClr val="FFFFFF"/>
          </a:solidFill>
          <a:ln w="6350">
            <a:solidFill>
              <a:srgbClr val="E8C5C8"/>
            </a:solidFill>
            <a:prstDash val="solid"/>
          </a:ln>
        </p:spPr>
      </p:sp>
      <p:sp>
        <p:nvSpPr>
          <p:cNvPr id="30" name="Shape 28"/>
          <p:cNvSpPr/>
          <p:nvPr/>
        </p:nvSpPr>
        <p:spPr>
          <a:xfrm>
            <a:off x="4663440" y="1115568"/>
            <a:ext cx="73152" cy="530352"/>
          </a:xfrm>
          <a:prstGeom prst="rect">
            <a:avLst/>
          </a:prstGeom>
          <a:solidFill>
            <a:srgbClr val="6B0F1A"/>
          </a:solidFill>
          <a:ln w="12700">
            <a:solidFill>
              <a:srgbClr val="6B0F1A"/>
            </a:solidFill>
            <a:prstDash val="solid"/>
          </a:ln>
        </p:spPr>
      </p:sp>
      <p:sp>
        <p:nvSpPr>
          <p:cNvPr id="31" name="Text 29"/>
          <p:cNvSpPr/>
          <p:nvPr/>
        </p:nvSpPr>
        <p:spPr>
          <a:xfrm>
            <a:off x="4828032" y="1161288"/>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Sections</a:t>
            </a:r>
            <a:endParaRPr lang="en-US" sz="1100" dirty="0"/>
          </a:p>
        </p:txBody>
      </p:sp>
      <p:sp>
        <p:nvSpPr>
          <p:cNvPr id="32" name="Text 30"/>
          <p:cNvSpPr/>
          <p:nvPr/>
        </p:nvSpPr>
        <p:spPr>
          <a:xfrm>
            <a:off x="4828032" y="1389888"/>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Groups students into class sections per grade</a:t>
            </a:r>
            <a:endParaRPr lang="en-US" sz="1000" dirty="0"/>
          </a:p>
        </p:txBody>
      </p:sp>
      <p:sp>
        <p:nvSpPr>
          <p:cNvPr id="33" name="Shape 31"/>
          <p:cNvSpPr/>
          <p:nvPr/>
        </p:nvSpPr>
        <p:spPr>
          <a:xfrm>
            <a:off x="4663440" y="1737360"/>
            <a:ext cx="4069080" cy="530352"/>
          </a:xfrm>
          <a:prstGeom prst="rect">
            <a:avLst/>
          </a:prstGeom>
          <a:solidFill>
            <a:srgbClr val="FAF0F1"/>
          </a:solidFill>
          <a:ln w="6350">
            <a:solidFill>
              <a:srgbClr val="E8C5C8"/>
            </a:solidFill>
            <a:prstDash val="solid"/>
          </a:ln>
        </p:spPr>
      </p:sp>
      <p:sp>
        <p:nvSpPr>
          <p:cNvPr id="34" name="Shape 32"/>
          <p:cNvSpPr/>
          <p:nvPr/>
        </p:nvSpPr>
        <p:spPr>
          <a:xfrm>
            <a:off x="4663440" y="1737360"/>
            <a:ext cx="73152" cy="530352"/>
          </a:xfrm>
          <a:prstGeom prst="rect">
            <a:avLst/>
          </a:prstGeom>
          <a:solidFill>
            <a:srgbClr val="9B1D28"/>
          </a:solidFill>
          <a:ln w="12700">
            <a:solidFill>
              <a:srgbClr val="9B1D28"/>
            </a:solidFill>
            <a:prstDash val="solid"/>
          </a:ln>
        </p:spPr>
      </p:sp>
      <p:sp>
        <p:nvSpPr>
          <p:cNvPr id="35" name="Text 33"/>
          <p:cNvSpPr/>
          <p:nvPr/>
        </p:nvSpPr>
        <p:spPr>
          <a:xfrm>
            <a:off x="4828032" y="1783080"/>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Grades</a:t>
            </a:r>
            <a:endParaRPr lang="en-US" sz="1100" dirty="0"/>
          </a:p>
        </p:txBody>
      </p:sp>
      <p:sp>
        <p:nvSpPr>
          <p:cNvPr id="36" name="Text 34"/>
          <p:cNvSpPr/>
          <p:nvPr/>
        </p:nvSpPr>
        <p:spPr>
          <a:xfrm>
            <a:off x="4828032" y="2011680"/>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Stores uploaded grades per student, subject, quarter</a:t>
            </a:r>
            <a:endParaRPr lang="en-US" sz="1000" dirty="0"/>
          </a:p>
        </p:txBody>
      </p:sp>
      <p:sp>
        <p:nvSpPr>
          <p:cNvPr id="37" name="Shape 35"/>
          <p:cNvSpPr/>
          <p:nvPr/>
        </p:nvSpPr>
        <p:spPr>
          <a:xfrm>
            <a:off x="4663440" y="2359152"/>
            <a:ext cx="4069080" cy="530352"/>
          </a:xfrm>
          <a:prstGeom prst="rect">
            <a:avLst/>
          </a:prstGeom>
          <a:solidFill>
            <a:srgbClr val="FFFFFF"/>
          </a:solidFill>
          <a:ln w="6350">
            <a:solidFill>
              <a:srgbClr val="E8C5C8"/>
            </a:solidFill>
            <a:prstDash val="solid"/>
          </a:ln>
        </p:spPr>
      </p:sp>
      <p:sp>
        <p:nvSpPr>
          <p:cNvPr id="38" name="Shape 36"/>
          <p:cNvSpPr/>
          <p:nvPr/>
        </p:nvSpPr>
        <p:spPr>
          <a:xfrm>
            <a:off x="4663440" y="2359152"/>
            <a:ext cx="73152" cy="530352"/>
          </a:xfrm>
          <a:prstGeom prst="rect">
            <a:avLst/>
          </a:prstGeom>
          <a:solidFill>
            <a:srgbClr val="6B0F1A"/>
          </a:solidFill>
          <a:ln w="12700">
            <a:solidFill>
              <a:srgbClr val="6B0F1A"/>
            </a:solidFill>
            <a:prstDash val="solid"/>
          </a:ln>
        </p:spPr>
      </p:sp>
      <p:sp>
        <p:nvSpPr>
          <p:cNvPr id="39" name="Text 37"/>
          <p:cNvSpPr/>
          <p:nvPr/>
        </p:nvSpPr>
        <p:spPr>
          <a:xfrm>
            <a:off x="4828032" y="2404872"/>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Uploads</a:t>
            </a:r>
            <a:endParaRPr lang="en-US" sz="1100" dirty="0"/>
          </a:p>
        </p:txBody>
      </p:sp>
      <p:sp>
        <p:nvSpPr>
          <p:cNvPr id="40" name="Text 38"/>
          <p:cNvSpPr/>
          <p:nvPr/>
        </p:nvSpPr>
        <p:spPr>
          <a:xfrm>
            <a:off x="4828032" y="2633472"/>
            <a:ext cx="3794760" cy="201168"/>
          </a:xfrm>
          <a:prstGeom prst="rect">
            <a:avLst/>
          </a:prstGeom>
          <a:noFill/>
        </p:spPr>
        <p:txBody>
          <a:bodyPr wrap="square" rtlCol="0" anchor="ctr"/>
          <a:lstStyle/>
          <a:p>
            <a:pPr marL="0" indent="0">
              <a:buNone/>
            </a:pPr>
            <a:r>
              <a:rPr lang="en-US" sz="1000" dirty="0">
                <a:solidFill>
                  <a:srgbClr val="2E0A10"/>
                </a:solidFill>
                <a:latin typeface="Calibri" panose="020F0502020204030204" pitchFamily="34" charset="0"/>
                <a:ea typeface="Calibri" panose="020F0502020204030204" pitchFamily="34" charset="-122"/>
                <a:cs typeface="Calibri" panose="020F0502020204030204" pitchFamily="34" charset="-120"/>
              </a:rPr>
              <a:t>Tracks Excel file uploads made by teachers</a:t>
            </a:r>
            <a:endParaRPr lang="en-US" sz="1000" dirty="0"/>
          </a:p>
        </p:txBody>
      </p:sp>
      <p:sp>
        <p:nvSpPr>
          <p:cNvPr id="41" name="Shape 39"/>
          <p:cNvSpPr/>
          <p:nvPr/>
        </p:nvSpPr>
        <p:spPr>
          <a:xfrm>
            <a:off x="4663440" y="2980944"/>
            <a:ext cx="4069080" cy="530352"/>
          </a:xfrm>
          <a:prstGeom prst="rect">
            <a:avLst/>
          </a:prstGeom>
          <a:solidFill>
            <a:srgbClr val="FAF0F1"/>
          </a:solidFill>
          <a:ln w="6350">
            <a:solidFill>
              <a:srgbClr val="E8C5C8"/>
            </a:solidFill>
            <a:prstDash val="solid"/>
          </a:ln>
        </p:spPr>
      </p:sp>
      <p:sp>
        <p:nvSpPr>
          <p:cNvPr id="42" name="Shape 40"/>
          <p:cNvSpPr/>
          <p:nvPr/>
        </p:nvSpPr>
        <p:spPr>
          <a:xfrm>
            <a:off x="4663440" y="2980944"/>
            <a:ext cx="73152" cy="530352"/>
          </a:xfrm>
          <a:prstGeom prst="rect">
            <a:avLst/>
          </a:prstGeom>
          <a:solidFill>
            <a:srgbClr val="9B1D28"/>
          </a:solidFill>
          <a:ln w="12700">
            <a:solidFill>
              <a:srgbClr val="9B1D28"/>
            </a:solidFill>
            <a:prstDash val="solid"/>
          </a:ln>
        </p:spPr>
      </p:sp>
      <p:sp>
        <p:nvSpPr>
          <p:cNvPr id="43" name="Text 41"/>
          <p:cNvSpPr/>
          <p:nvPr/>
        </p:nvSpPr>
        <p:spPr>
          <a:xfrm>
            <a:off x="4828032" y="3026664"/>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Teacher Assignments</a:t>
            </a:r>
            <a:endParaRPr lang="en-US" sz="1100" dirty="0"/>
          </a:p>
        </p:txBody>
      </p:sp>
      <p:sp>
        <p:nvSpPr>
          <p:cNvPr id="44" name="Text 42"/>
          <p:cNvSpPr/>
          <p:nvPr/>
        </p:nvSpPr>
        <p:spPr>
          <a:xfrm>
            <a:off x="4828032" y="3255264"/>
            <a:ext cx="3794760" cy="201168"/>
          </a:xfrm>
          <a:prstGeom prst="rect">
            <a:avLst/>
          </a:prstGeom>
          <a:noFill/>
        </p:spPr>
        <p:txBody>
          <a:bodyPr wrap="square" rtlCol="0" anchor="ctr"/>
          <a:lstStyle/>
          <a:p>
            <a:pPr marL="0" indent="0">
              <a:buNone/>
            </a:pPr>
            <a:r>
              <a:rPr lang="en-US" sz="1000" dirty="0"/>
              <a:t>Class Assignment for teachers</a:t>
            </a:r>
            <a:endParaRPr lang="en-US" sz="1000" dirty="0"/>
          </a:p>
        </p:txBody>
      </p:sp>
      <p:sp>
        <p:nvSpPr>
          <p:cNvPr id="45" name="Shape 43"/>
          <p:cNvSpPr/>
          <p:nvPr/>
        </p:nvSpPr>
        <p:spPr>
          <a:xfrm>
            <a:off x="4663440" y="3602736"/>
            <a:ext cx="4069080" cy="530352"/>
          </a:xfrm>
          <a:prstGeom prst="rect">
            <a:avLst/>
          </a:prstGeom>
          <a:solidFill>
            <a:srgbClr val="FFFFFF"/>
          </a:solidFill>
          <a:ln w="6350">
            <a:solidFill>
              <a:srgbClr val="E8C5C8"/>
            </a:solidFill>
            <a:prstDash val="solid"/>
          </a:ln>
        </p:spPr>
        <p:txBody>
          <a:bodyPr/>
          <a:p>
            <a:endParaRPr lang="en-US"/>
          </a:p>
        </p:txBody>
      </p:sp>
      <p:sp>
        <p:nvSpPr>
          <p:cNvPr id="46" name="Shape 44"/>
          <p:cNvSpPr/>
          <p:nvPr/>
        </p:nvSpPr>
        <p:spPr>
          <a:xfrm>
            <a:off x="4663440" y="3602736"/>
            <a:ext cx="73152" cy="530352"/>
          </a:xfrm>
          <a:prstGeom prst="rect">
            <a:avLst/>
          </a:prstGeom>
          <a:solidFill>
            <a:srgbClr val="6B0F1A"/>
          </a:solidFill>
          <a:ln w="12700">
            <a:solidFill>
              <a:srgbClr val="6B0F1A"/>
            </a:solidFill>
            <a:prstDash val="solid"/>
          </a:ln>
        </p:spPr>
      </p:sp>
      <p:sp>
        <p:nvSpPr>
          <p:cNvPr id="47" name="Text 45"/>
          <p:cNvSpPr/>
          <p:nvPr/>
        </p:nvSpPr>
        <p:spPr>
          <a:xfrm>
            <a:off x="4828032" y="3648456"/>
            <a:ext cx="1463040" cy="228600"/>
          </a:xfrm>
          <a:prstGeom prst="rect">
            <a:avLst/>
          </a:prstGeom>
          <a:noFill/>
        </p:spPr>
        <p:txBody>
          <a:bodyPr wrap="square" rtlCol="0" anchor="ctr"/>
          <a:lstStyle/>
          <a:p>
            <a:pPr marL="0" indent="0">
              <a:buNone/>
            </a:pPr>
            <a:r>
              <a:rPr lang="en-US" sz="1100" b="1" dirty="0">
                <a:solidFill>
                  <a:srgbClr val="6B0F1A"/>
                </a:solidFill>
                <a:latin typeface="Calibri" panose="020F0502020204030204" pitchFamily="34" charset="0"/>
                <a:ea typeface="Calibri" panose="020F0502020204030204" pitchFamily="34" charset="-122"/>
                <a:cs typeface="Calibri" panose="020F0502020204030204" pitchFamily="34" charset="-120"/>
              </a:rPr>
              <a:t>Student Enrollments</a:t>
            </a:r>
            <a:endParaRPr lang="en-US" sz="1100" dirty="0"/>
          </a:p>
        </p:txBody>
      </p:sp>
      <p:sp>
        <p:nvSpPr>
          <p:cNvPr id="48" name="Text 46"/>
          <p:cNvSpPr/>
          <p:nvPr/>
        </p:nvSpPr>
        <p:spPr>
          <a:xfrm>
            <a:off x="4828032" y="3877056"/>
            <a:ext cx="3794760" cy="201168"/>
          </a:xfrm>
          <a:prstGeom prst="rect">
            <a:avLst/>
          </a:prstGeom>
          <a:noFill/>
        </p:spPr>
        <p:txBody>
          <a:bodyPr wrap="square" rtlCol="0" anchor="ctr"/>
          <a:lstStyle/>
          <a:p>
            <a:pPr marL="0" indent="0">
              <a:buNone/>
            </a:pPr>
            <a:r>
              <a:rPr lang="en-US" sz="1000" dirty="0"/>
              <a:t>Checking if the Students were enrolled in the current school year</a:t>
            </a:r>
            <a:endParaRPr lang="en-US" sz="1000" dirty="0"/>
          </a:p>
        </p:txBody>
      </p:sp>
      <p:sp>
        <p:nvSpPr>
          <p:cNvPr id="49" name="Shape 47"/>
          <p:cNvSpPr/>
          <p:nvPr/>
        </p:nvSpPr>
        <p:spPr>
          <a:xfrm>
            <a:off x="0" y="4956048"/>
            <a:ext cx="9144000" cy="182880"/>
          </a:xfrm>
          <a:prstGeom prst="rect">
            <a:avLst/>
          </a:prstGeom>
          <a:solidFill>
            <a:srgbClr val="3B0009"/>
          </a:solidFill>
          <a:ln w="12700">
            <a:solidFill>
              <a:srgbClr val="3B0009"/>
            </a:solidFill>
            <a:prstDash val="solid"/>
          </a:ln>
        </p:spPr>
      </p:sp>
      <p:sp>
        <p:nvSpPr>
          <p:cNvPr id="50" name="Text 48"/>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Features</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Shape 3"/>
          <p:cNvSpPr/>
          <p:nvPr/>
        </p:nvSpPr>
        <p:spPr>
          <a:xfrm>
            <a:off x="274320" y="988187"/>
            <a:ext cx="4069080" cy="1261872"/>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6" name="Shape 4"/>
          <p:cNvSpPr/>
          <p:nvPr/>
        </p:nvSpPr>
        <p:spPr>
          <a:xfrm>
            <a:off x="274320" y="988187"/>
            <a:ext cx="91440" cy="1261872"/>
          </a:xfrm>
          <a:prstGeom prst="rect">
            <a:avLst/>
          </a:prstGeom>
          <a:solidFill>
            <a:srgbClr val="C9A84C"/>
          </a:solidFill>
          <a:ln w="12700">
            <a:solidFill>
              <a:srgbClr val="C9A84C"/>
            </a:solidFill>
            <a:prstDash val="solid"/>
          </a:ln>
        </p:spPr>
      </p:sp>
      <p:sp>
        <p:nvSpPr>
          <p:cNvPr id="7" name="Text 5"/>
          <p:cNvSpPr/>
          <p:nvPr/>
        </p:nvSpPr>
        <p:spPr>
          <a:xfrm>
            <a:off x="457200" y="1079627"/>
            <a:ext cx="3749040" cy="320040"/>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Login Module</a:t>
            </a:r>
            <a:endParaRPr lang="en-US" sz="1300" dirty="0"/>
          </a:p>
        </p:txBody>
      </p:sp>
      <p:sp>
        <p:nvSpPr>
          <p:cNvPr id="8" name="Text 6"/>
          <p:cNvSpPr/>
          <p:nvPr/>
        </p:nvSpPr>
        <p:spPr>
          <a:xfrm>
            <a:off x="457200" y="1445387"/>
            <a:ext cx="3749040" cy="713232"/>
          </a:xfrm>
          <a:prstGeom prst="rect">
            <a:avLst/>
          </a:prstGeom>
          <a:noFill/>
        </p:spPr>
        <p:txBody>
          <a:bodyPr wrap="square" rtlCol="0" anchor="ct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The login system provides secure access for three user types: Admin, Teacher, and Parent. Each uses a unique identifier that must already exist in the school's records. This prevents unauthorized access and protects the privacy of all student data.</a:t>
            </a:r>
            <a:endParaRPr lang="en-US" sz="1150" dirty="0"/>
          </a:p>
        </p:txBody>
      </p:sp>
      <p:sp>
        <p:nvSpPr>
          <p:cNvPr id="9" name="Shape 7"/>
          <p:cNvSpPr/>
          <p:nvPr/>
        </p:nvSpPr>
        <p:spPr>
          <a:xfrm>
            <a:off x="274320" y="2286508"/>
            <a:ext cx="4069080" cy="1261872"/>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0" name="Shape 8"/>
          <p:cNvSpPr/>
          <p:nvPr/>
        </p:nvSpPr>
        <p:spPr>
          <a:xfrm>
            <a:off x="274320" y="2286508"/>
            <a:ext cx="91440" cy="1261872"/>
          </a:xfrm>
          <a:prstGeom prst="rect">
            <a:avLst/>
          </a:prstGeom>
          <a:solidFill>
            <a:srgbClr val="C9A84C"/>
          </a:solidFill>
          <a:ln w="12700">
            <a:solidFill>
              <a:srgbClr val="C9A84C"/>
            </a:solidFill>
            <a:prstDash val="solid"/>
          </a:ln>
        </p:spPr>
      </p:sp>
      <p:sp>
        <p:nvSpPr>
          <p:cNvPr id="11" name="Text 9"/>
          <p:cNvSpPr/>
          <p:nvPr/>
        </p:nvSpPr>
        <p:spPr>
          <a:xfrm>
            <a:off x="457200" y="2377948"/>
            <a:ext cx="3749040" cy="320040"/>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Teacher — Grade Upload</a:t>
            </a:r>
            <a:endParaRPr lang="en-US" sz="1300" dirty="0"/>
          </a:p>
        </p:txBody>
      </p:sp>
      <p:sp>
        <p:nvSpPr>
          <p:cNvPr id="12" name="Text 10"/>
          <p:cNvSpPr/>
          <p:nvPr/>
        </p:nvSpPr>
        <p:spPr>
          <a:xfrm>
            <a:off x="457200" y="2743708"/>
            <a:ext cx="3749040" cy="713232"/>
          </a:xfrm>
          <a:prstGeom prst="rect">
            <a:avLst/>
          </a:prstGeom>
          <a:noFill/>
        </p:spPr>
        <p:txBody>
          <a:bodyPr wrap="square" rtlCol="0" anchor="ct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Teachers log in to their profile and upload student grades using existing Excel files. The system reads the file via SheetJS, processes the data, and saves it to the database automatically. Teachers also see a list of all sections and subjects they supervise.</a:t>
            </a:r>
            <a:endParaRPr lang="en-US" sz="1150" dirty="0"/>
          </a:p>
        </p:txBody>
      </p:sp>
      <p:sp>
        <p:nvSpPr>
          <p:cNvPr id="13" name="Shape 11"/>
          <p:cNvSpPr/>
          <p:nvPr/>
        </p:nvSpPr>
        <p:spPr>
          <a:xfrm>
            <a:off x="274320" y="3575939"/>
            <a:ext cx="4069080" cy="1261872"/>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4" name="Shape 12"/>
          <p:cNvSpPr/>
          <p:nvPr/>
        </p:nvSpPr>
        <p:spPr>
          <a:xfrm>
            <a:off x="274320" y="3575939"/>
            <a:ext cx="91440" cy="1261872"/>
          </a:xfrm>
          <a:prstGeom prst="rect">
            <a:avLst/>
          </a:prstGeom>
          <a:solidFill>
            <a:srgbClr val="C9A84C"/>
          </a:solidFill>
          <a:ln w="12700">
            <a:solidFill>
              <a:srgbClr val="C9A84C"/>
            </a:solidFill>
            <a:prstDash val="solid"/>
          </a:ln>
        </p:spPr>
      </p:sp>
      <p:sp>
        <p:nvSpPr>
          <p:cNvPr id="15" name="Text 13"/>
          <p:cNvSpPr/>
          <p:nvPr/>
        </p:nvSpPr>
        <p:spPr>
          <a:xfrm>
            <a:off x="457200" y="3667379"/>
            <a:ext cx="3749040" cy="320040"/>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Parent — Grade Viewer</a:t>
            </a:r>
            <a:endParaRPr lang="en-US" sz="1300" dirty="0"/>
          </a:p>
        </p:txBody>
      </p:sp>
      <p:sp>
        <p:nvSpPr>
          <p:cNvPr id="16" name="Text 14"/>
          <p:cNvSpPr/>
          <p:nvPr/>
        </p:nvSpPr>
        <p:spPr>
          <a:xfrm>
            <a:off x="457200" y="4033139"/>
            <a:ext cx="3749040" cy="713232"/>
          </a:xfrm>
          <a:prstGeom prst="rect">
            <a:avLst/>
          </a:prstGeom>
          <a:noFill/>
        </p:spPr>
        <p:txBody>
          <a:bodyPr wrap="square" rtlCol="0" anchor="ct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Parents log in to their personal account and can view their child's grades per subject and per grading period. The dashboard is simple and straightforward — no confusion, just clear grade information as uploaded by the teacher.</a:t>
            </a:r>
            <a:endParaRPr lang="en-US" sz="1150" dirty="0"/>
          </a:p>
        </p:txBody>
      </p:sp>
      <p:sp>
        <p:nvSpPr>
          <p:cNvPr id="17" name="Shape 15"/>
          <p:cNvSpPr/>
          <p:nvPr/>
        </p:nvSpPr>
        <p:spPr>
          <a:xfrm>
            <a:off x="4800600" y="988187"/>
            <a:ext cx="4069080" cy="1261872"/>
          </a:xfrm>
          <a:prstGeom prst="rect">
            <a:avLst/>
          </a:prstGeom>
          <a:solidFill>
            <a:srgbClr val="6B0F1A"/>
          </a:solidFill>
          <a:ln w="12700">
            <a:solidFill>
              <a:srgbClr val="E8C5C8"/>
            </a:solidFill>
            <a:prstDash val="solid"/>
          </a:ln>
          <a:effectLst>
            <a:outerShdw blurRad="63500" dist="25400" dir="8100000" algn="bl" rotWithShape="0">
              <a:srgbClr val="000000">
                <a:alpha val="7000"/>
              </a:srgbClr>
            </a:outerShdw>
          </a:effectLst>
        </p:spPr>
      </p:sp>
      <p:sp>
        <p:nvSpPr>
          <p:cNvPr id="18" name="Text 16"/>
          <p:cNvSpPr/>
          <p:nvPr/>
        </p:nvSpPr>
        <p:spPr>
          <a:xfrm>
            <a:off x="4983480" y="1079627"/>
            <a:ext cx="3749040" cy="320040"/>
          </a:xfrm>
          <a:prstGeom prst="rect">
            <a:avLst/>
          </a:prstGeom>
          <a:noFill/>
        </p:spPr>
        <p:txBody>
          <a:bodyPr wrap="square" rtlCol="0" anchor="ctr"/>
          <a:lstStyle/>
          <a:p>
            <a:pPr marL="0" indent="0">
              <a:buNone/>
            </a:pPr>
            <a:r>
              <a:rPr lang="en-US" sz="1300" b="1" dirty="0">
                <a:solidFill>
                  <a:srgbClr val="C9A84C"/>
                </a:solidFill>
                <a:latin typeface="Calibri" panose="020F0502020204030204" pitchFamily="34" charset="0"/>
                <a:ea typeface="Calibri" panose="020F0502020204030204" pitchFamily="34" charset="-122"/>
                <a:cs typeface="Calibri" panose="020F0502020204030204" pitchFamily="34" charset="-120"/>
              </a:rPr>
              <a:t>Admin Dashboard</a:t>
            </a:r>
            <a:endParaRPr lang="en-US" sz="1300" dirty="0"/>
          </a:p>
        </p:txBody>
      </p:sp>
      <p:sp>
        <p:nvSpPr>
          <p:cNvPr id="19" name="Text 17"/>
          <p:cNvSpPr/>
          <p:nvPr/>
        </p:nvSpPr>
        <p:spPr>
          <a:xfrm>
            <a:off x="4983480" y="1445387"/>
            <a:ext cx="3749040" cy="713232"/>
          </a:xfrm>
          <a:prstGeom prst="rect">
            <a:avLst/>
          </a:prstGeom>
          <a:noFill/>
        </p:spPr>
        <p:txBody>
          <a:bodyPr wrap="square" rtlCol="0" anchor="ctr"/>
          <a:lstStyle/>
          <a:p>
            <a:pPr marL="0" indent="0">
              <a:buNone/>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Account creation is exclusive to the Admin to ensure only school-registered individuals can access the system. Admin can add teachers, create parent accounts, manage school year settings, and oversee all system activity.</a:t>
            </a:r>
            <a:endParaRPr lang="en-US" sz="1150" dirty="0"/>
          </a:p>
        </p:txBody>
      </p:sp>
      <p:sp>
        <p:nvSpPr>
          <p:cNvPr id="20" name="Shape 18"/>
          <p:cNvSpPr/>
          <p:nvPr/>
        </p:nvSpPr>
        <p:spPr>
          <a:xfrm>
            <a:off x="4800600" y="2258568"/>
            <a:ext cx="4069080" cy="1261872"/>
          </a:xfrm>
          <a:prstGeom prst="rect">
            <a:avLst/>
          </a:prstGeom>
          <a:solidFill>
            <a:srgbClr val="6B0F1A"/>
          </a:solidFill>
          <a:ln w="12700">
            <a:solidFill>
              <a:srgbClr val="E8C5C8"/>
            </a:solidFill>
            <a:prstDash val="solid"/>
          </a:ln>
          <a:effectLst>
            <a:outerShdw blurRad="63500" dist="25400" dir="8100000" algn="bl" rotWithShape="0">
              <a:srgbClr val="000000">
                <a:alpha val="7000"/>
              </a:srgbClr>
            </a:outerShdw>
          </a:effectLst>
        </p:spPr>
      </p:sp>
      <p:sp>
        <p:nvSpPr>
          <p:cNvPr id="21" name="Text 19"/>
          <p:cNvSpPr/>
          <p:nvPr/>
        </p:nvSpPr>
        <p:spPr>
          <a:xfrm>
            <a:off x="4983480" y="2350008"/>
            <a:ext cx="3749040" cy="320040"/>
          </a:xfrm>
          <a:prstGeom prst="rect">
            <a:avLst/>
          </a:prstGeom>
          <a:noFill/>
        </p:spPr>
        <p:txBody>
          <a:bodyPr wrap="square" rtlCol="0" anchor="ctr"/>
          <a:lstStyle/>
          <a:p>
            <a:pPr marL="0" indent="0">
              <a:buNone/>
            </a:pPr>
            <a:r>
              <a:rPr lang="en-US" sz="1300" b="1" dirty="0">
                <a:solidFill>
                  <a:srgbClr val="C9A84C"/>
                </a:solidFill>
                <a:latin typeface="Calibri" panose="020F0502020204030204" pitchFamily="34" charset="0"/>
                <a:ea typeface="Calibri" panose="020F0502020204030204" pitchFamily="34" charset="-122"/>
                <a:cs typeface="Calibri" panose="020F0502020204030204" pitchFamily="34" charset="-120"/>
              </a:rPr>
              <a:t>Reports Generation</a:t>
            </a:r>
            <a:endParaRPr lang="en-US" sz="1300" dirty="0"/>
          </a:p>
        </p:txBody>
      </p:sp>
      <p:sp>
        <p:nvSpPr>
          <p:cNvPr id="22" name="Text 20"/>
          <p:cNvSpPr/>
          <p:nvPr/>
        </p:nvSpPr>
        <p:spPr>
          <a:xfrm>
            <a:off x="4983480" y="2715768"/>
            <a:ext cx="3749040" cy="713232"/>
          </a:xfrm>
          <a:prstGeom prst="rect">
            <a:avLst/>
          </a:prstGeom>
          <a:noFill/>
        </p:spPr>
        <p:txBody>
          <a:bodyPr wrap="square" rtlCol="0" anchor="ctr"/>
          <a:lstStyle/>
          <a:p>
            <a:pPr marL="0" indent="0">
              <a:buNone/>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The Admin can generate summary reports that tally the number of registered users, uploaded grade files, and active accounts across different categories — useful for data oversight and school management.</a:t>
            </a:r>
            <a:endParaRPr lang="en-US" sz="1150" dirty="0"/>
          </a:p>
        </p:txBody>
      </p:sp>
      <p:sp>
        <p:nvSpPr>
          <p:cNvPr id="24" name="Text 22"/>
          <p:cNvSpPr/>
          <p:nvPr/>
        </p:nvSpPr>
        <p:spPr>
          <a:xfrm>
            <a:off x="4983480" y="3621024"/>
            <a:ext cx="3749040" cy="320040"/>
          </a:xfrm>
          <a:prstGeom prst="rect">
            <a:avLst/>
          </a:prstGeom>
          <a:noFill/>
        </p:spPr>
        <p:txBody>
          <a:bodyPr wrap="square" rtlCol="0" anchor="ctr"/>
          <a:lstStyle/>
          <a:p>
            <a:pPr marL="0" indent="0">
              <a:buNone/>
            </a:pPr>
            <a:endParaRPr lang="en-US" sz="1300" dirty="0"/>
          </a:p>
        </p:txBody>
      </p:sp>
      <p:sp>
        <p:nvSpPr>
          <p:cNvPr id="26" name="Shape 24"/>
          <p:cNvSpPr/>
          <p:nvPr/>
        </p:nvSpPr>
        <p:spPr>
          <a:xfrm>
            <a:off x="0" y="4956048"/>
            <a:ext cx="9144000" cy="182880"/>
          </a:xfrm>
          <a:prstGeom prst="rect">
            <a:avLst/>
          </a:prstGeom>
          <a:solidFill>
            <a:srgbClr val="3B0009"/>
          </a:solidFill>
          <a:ln w="12700">
            <a:solidFill>
              <a:srgbClr val="3B0009"/>
            </a:solidFill>
            <a:prstDash val="solid"/>
          </a:ln>
        </p:spPr>
      </p:sp>
      <p:sp>
        <p:nvSpPr>
          <p:cNvPr id="27" name="Text 25"/>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6B0F1A"/>
          </a:solidFill>
          <a:ln w="12700">
            <a:solidFill>
              <a:srgbClr val="6B0F1A"/>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User Roles &amp; Access Levels</a:t>
            </a:r>
            <a:endParaRPr lang="en-US" sz="2800" dirty="0"/>
          </a:p>
        </p:txBody>
      </p:sp>
      <p:sp>
        <p:nvSpPr>
          <p:cNvPr id="4" name="Shape 2"/>
          <p:cNvSpPr/>
          <p:nvPr/>
        </p:nvSpPr>
        <p:spPr>
          <a:xfrm>
            <a:off x="320040" y="841248"/>
            <a:ext cx="2788920" cy="3931920"/>
          </a:xfrm>
          <a:prstGeom prst="rect">
            <a:avLst/>
          </a:prstGeom>
          <a:solidFill>
            <a:srgbClr val="3B0009"/>
          </a:solidFill>
          <a:ln w="12700">
            <a:solidFill>
              <a:srgbClr val="3B0009"/>
            </a:solidFill>
            <a:prstDash val="solid"/>
          </a:ln>
        </p:spPr>
      </p:sp>
      <p:sp>
        <p:nvSpPr>
          <p:cNvPr id="5" name="Shape 3"/>
          <p:cNvSpPr/>
          <p:nvPr/>
        </p:nvSpPr>
        <p:spPr>
          <a:xfrm>
            <a:off x="320040" y="841248"/>
            <a:ext cx="2788920" cy="475488"/>
          </a:xfrm>
          <a:prstGeom prst="rect">
            <a:avLst/>
          </a:prstGeom>
          <a:solidFill>
            <a:srgbClr val="C9A84C"/>
          </a:solidFill>
          <a:ln w="12700">
            <a:solidFill>
              <a:srgbClr val="C9A84C"/>
            </a:solidFill>
            <a:prstDash val="solid"/>
          </a:ln>
        </p:spPr>
      </p:sp>
      <p:sp>
        <p:nvSpPr>
          <p:cNvPr id="6" name="Text 4"/>
          <p:cNvSpPr/>
          <p:nvPr/>
        </p:nvSpPr>
        <p:spPr>
          <a:xfrm>
            <a:off x="320040" y="896112"/>
            <a:ext cx="2788920" cy="347472"/>
          </a:xfrm>
          <a:prstGeom prst="rect">
            <a:avLst/>
          </a:prstGeom>
          <a:noFill/>
        </p:spPr>
        <p:txBody>
          <a:bodyPr wrap="square" rtlCol="0" anchor="ctr"/>
          <a:lstStyle/>
          <a:p>
            <a:pPr marL="0" indent="0" algn="ctr">
              <a:buNone/>
            </a:pPr>
            <a:r>
              <a:rPr lang="en-US" sz="1400" b="1" dirty="0">
                <a:solidFill>
                  <a:srgbClr val="3B0009"/>
                </a:solidFill>
                <a:latin typeface="Calibri" panose="020F0502020204030204" pitchFamily="34" charset="0"/>
                <a:ea typeface="Calibri" panose="020F0502020204030204" pitchFamily="34" charset="-122"/>
                <a:cs typeface="Calibri" panose="020F0502020204030204" pitchFamily="34" charset="-120"/>
              </a:rPr>
              <a:t>ADMIN</a:t>
            </a:r>
            <a:endParaRPr lang="en-US" sz="1400" dirty="0"/>
          </a:p>
        </p:txBody>
      </p:sp>
      <p:sp>
        <p:nvSpPr>
          <p:cNvPr id="7" name="Text 5"/>
          <p:cNvSpPr/>
          <p:nvPr/>
        </p:nvSpPr>
        <p:spPr>
          <a:xfrm>
            <a:off x="457200" y="1417320"/>
            <a:ext cx="2514600" cy="3154680"/>
          </a:xfrm>
          <a:prstGeom prst="rect">
            <a:avLst/>
          </a:prstGeom>
          <a:noFill/>
        </p:spPr>
        <p:txBody>
          <a:bodyPr wrap="square" rtlCol="0" anchor="ctr"/>
          <a:lstStyle/>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Create and manage all user accounts (Teachers &amp; Parents)</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Configure school years and grading periods</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View all uploaded grade records</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Generate system-wide reports</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Manage sections and subjects</a:t>
            </a:r>
            <a:endParaRPr lang="en-US" sz="1100" dirty="0"/>
          </a:p>
        </p:txBody>
      </p:sp>
      <p:sp>
        <p:nvSpPr>
          <p:cNvPr id="8" name="Shape 6"/>
          <p:cNvSpPr/>
          <p:nvPr/>
        </p:nvSpPr>
        <p:spPr>
          <a:xfrm>
            <a:off x="3273552" y="841248"/>
            <a:ext cx="2788920" cy="3931920"/>
          </a:xfrm>
          <a:prstGeom prst="rect">
            <a:avLst/>
          </a:prstGeom>
          <a:solidFill>
            <a:srgbClr val="9B1D28"/>
          </a:solidFill>
          <a:ln w="12700">
            <a:solidFill>
              <a:srgbClr val="9B1D28"/>
            </a:solidFill>
            <a:prstDash val="solid"/>
          </a:ln>
        </p:spPr>
      </p:sp>
      <p:sp>
        <p:nvSpPr>
          <p:cNvPr id="9" name="Shape 7"/>
          <p:cNvSpPr/>
          <p:nvPr/>
        </p:nvSpPr>
        <p:spPr>
          <a:xfrm>
            <a:off x="3273552" y="841248"/>
            <a:ext cx="2788920" cy="475488"/>
          </a:xfrm>
          <a:prstGeom prst="rect">
            <a:avLst/>
          </a:prstGeom>
          <a:solidFill>
            <a:srgbClr val="C9A84C"/>
          </a:solidFill>
          <a:ln w="12700">
            <a:solidFill>
              <a:srgbClr val="C9A84C"/>
            </a:solidFill>
            <a:prstDash val="solid"/>
          </a:ln>
        </p:spPr>
      </p:sp>
      <p:sp>
        <p:nvSpPr>
          <p:cNvPr id="10" name="Text 8"/>
          <p:cNvSpPr/>
          <p:nvPr/>
        </p:nvSpPr>
        <p:spPr>
          <a:xfrm>
            <a:off x="3273552" y="896112"/>
            <a:ext cx="2788920" cy="347472"/>
          </a:xfrm>
          <a:prstGeom prst="rect">
            <a:avLst/>
          </a:prstGeom>
          <a:noFill/>
        </p:spPr>
        <p:txBody>
          <a:bodyPr wrap="square" rtlCol="0" anchor="ctr"/>
          <a:lstStyle/>
          <a:p>
            <a:pPr marL="0" indent="0" algn="ctr">
              <a:buNone/>
            </a:pPr>
            <a:r>
              <a:rPr lang="en-US" sz="1400" b="1" dirty="0">
                <a:solidFill>
                  <a:srgbClr val="3B0009"/>
                </a:solidFill>
                <a:latin typeface="Calibri" panose="020F0502020204030204" pitchFamily="34" charset="0"/>
                <a:ea typeface="Calibri" panose="020F0502020204030204" pitchFamily="34" charset="-122"/>
                <a:cs typeface="Calibri" panose="020F0502020204030204" pitchFamily="34" charset="-120"/>
              </a:rPr>
              <a:t>TEACHER</a:t>
            </a:r>
            <a:endParaRPr lang="en-US" sz="1400" dirty="0"/>
          </a:p>
        </p:txBody>
      </p:sp>
      <p:sp>
        <p:nvSpPr>
          <p:cNvPr id="11" name="Text 9"/>
          <p:cNvSpPr/>
          <p:nvPr/>
        </p:nvSpPr>
        <p:spPr>
          <a:xfrm>
            <a:off x="3410712" y="1417320"/>
            <a:ext cx="2514600" cy="3154680"/>
          </a:xfrm>
          <a:prstGeom prst="rect">
            <a:avLst/>
          </a:prstGeom>
          <a:noFill/>
        </p:spPr>
        <p:txBody>
          <a:bodyPr wrap="square" rtlCol="0" anchor="ctr"/>
          <a:lstStyle/>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Log in with school-assigned credentials</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View assigned sections and subjects</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Upload student grades via Excel file</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View uploaded grade history</a:t>
            </a:r>
            <a:endParaRPr lang="en-US" sz="1100" dirty="0"/>
          </a:p>
        </p:txBody>
      </p:sp>
      <p:sp>
        <p:nvSpPr>
          <p:cNvPr id="12" name="Shape 10"/>
          <p:cNvSpPr/>
          <p:nvPr/>
        </p:nvSpPr>
        <p:spPr>
          <a:xfrm>
            <a:off x="6227064" y="841248"/>
            <a:ext cx="2788920" cy="3931920"/>
          </a:xfrm>
          <a:prstGeom prst="rect">
            <a:avLst/>
          </a:prstGeom>
          <a:solidFill>
            <a:srgbClr val="7A1020"/>
          </a:solidFill>
          <a:ln w="12700">
            <a:solidFill>
              <a:srgbClr val="7A1020"/>
            </a:solidFill>
            <a:prstDash val="solid"/>
          </a:ln>
        </p:spPr>
      </p:sp>
      <p:sp>
        <p:nvSpPr>
          <p:cNvPr id="13" name="Shape 11"/>
          <p:cNvSpPr/>
          <p:nvPr/>
        </p:nvSpPr>
        <p:spPr>
          <a:xfrm>
            <a:off x="6227064" y="841248"/>
            <a:ext cx="2788920" cy="475488"/>
          </a:xfrm>
          <a:prstGeom prst="rect">
            <a:avLst/>
          </a:prstGeom>
          <a:solidFill>
            <a:srgbClr val="C9A84C"/>
          </a:solidFill>
          <a:ln w="12700">
            <a:solidFill>
              <a:srgbClr val="C9A84C"/>
            </a:solidFill>
            <a:prstDash val="solid"/>
          </a:ln>
        </p:spPr>
      </p:sp>
      <p:sp>
        <p:nvSpPr>
          <p:cNvPr id="14" name="Text 12"/>
          <p:cNvSpPr/>
          <p:nvPr/>
        </p:nvSpPr>
        <p:spPr>
          <a:xfrm>
            <a:off x="6227064" y="896112"/>
            <a:ext cx="2788920" cy="347472"/>
          </a:xfrm>
          <a:prstGeom prst="rect">
            <a:avLst/>
          </a:prstGeom>
          <a:noFill/>
        </p:spPr>
        <p:txBody>
          <a:bodyPr wrap="square" rtlCol="0" anchor="ctr"/>
          <a:lstStyle/>
          <a:p>
            <a:pPr marL="0" indent="0" algn="ctr">
              <a:buNone/>
            </a:pPr>
            <a:r>
              <a:rPr lang="en-US" sz="1400" b="1" dirty="0">
                <a:solidFill>
                  <a:srgbClr val="3B0009"/>
                </a:solidFill>
                <a:latin typeface="Calibri" panose="020F0502020204030204" pitchFamily="34" charset="0"/>
                <a:ea typeface="Calibri" panose="020F0502020204030204" pitchFamily="34" charset="-122"/>
                <a:cs typeface="Calibri" panose="020F0502020204030204" pitchFamily="34" charset="-120"/>
              </a:rPr>
              <a:t>PARENT</a:t>
            </a:r>
            <a:endParaRPr lang="en-US" sz="1400" dirty="0"/>
          </a:p>
        </p:txBody>
      </p:sp>
      <p:sp>
        <p:nvSpPr>
          <p:cNvPr id="15" name="Text 13"/>
          <p:cNvSpPr/>
          <p:nvPr/>
        </p:nvSpPr>
        <p:spPr>
          <a:xfrm>
            <a:off x="6364224" y="1417320"/>
            <a:ext cx="2514600" cy="3154680"/>
          </a:xfrm>
          <a:prstGeom prst="rect">
            <a:avLst/>
          </a:prstGeom>
          <a:noFill/>
        </p:spPr>
        <p:txBody>
          <a:bodyPr wrap="square" rtlCol="0" anchor="ctr"/>
          <a:lstStyle/>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Log in with school-assigned account</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View child's grades per subject</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View grades per grading period (S1–S3/S4)</a:t>
            </a:r>
            <a:endParaRPr lang="en-US" sz="1100" dirty="0"/>
          </a:p>
          <a:p>
            <a:pPr marL="342900" indent="-342900">
              <a:spcAft>
                <a:spcPts val="700"/>
              </a:spcAft>
              <a:buSzPct val="100000"/>
              <a:buChar char="•"/>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Monitor academic performance over time</a:t>
            </a:r>
            <a:endParaRPr lang="en-US" sz="1100" dirty="0"/>
          </a:p>
        </p:txBody>
      </p:sp>
      <p:sp>
        <p:nvSpPr>
          <p:cNvPr id="16" name="Shape 14"/>
          <p:cNvSpPr/>
          <p:nvPr/>
        </p:nvSpPr>
        <p:spPr>
          <a:xfrm>
            <a:off x="0" y="4956048"/>
            <a:ext cx="9144000" cy="182880"/>
          </a:xfrm>
          <a:prstGeom prst="rect">
            <a:avLst/>
          </a:prstGeom>
          <a:solidFill>
            <a:srgbClr val="3B0009"/>
          </a:solidFill>
          <a:ln w="12700">
            <a:solidFill>
              <a:srgbClr val="3B0009"/>
            </a:solidFill>
            <a:prstDash val="solid"/>
          </a:ln>
        </p:spPr>
      </p:sp>
      <p:sp>
        <p:nvSpPr>
          <p:cNvPr id="17" name="Text 15"/>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Testing — Functionality</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Text 3"/>
          <p:cNvSpPr/>
          <p:nvPr/>
        </p:nvSpPr>
        <p:spPr>
          <a:xfrm>
            <a:off x="411480" y="1078992"/>
            <a:ext cx="8321040" cy="411480"/>
          </a:xfrm>
          <a:prstGeom prst="rect">
            <a:avLst/>
          </a:prstGeom>
          <a:noFill/>
        </p:spPr>
        <p:txBody>
          <a:bodyPr wrap="square" rtlCol="0" anchor="ctr"/>
          <a:lstStyle/>
          <a:p>
            <a:pPr marL="0" indent="0">
              <a:buNone/>
            </a:pPr>
            <a:r>
              <a:rPr lang="en-US" sz="1250" dirty="0">
                <a:solidFill>
                  <a:srgbClr val="2E0A10"/>
                </a:solidFill>
                <a:latin typeface="Calibri" panose="020F0502020204030204" pitchFamily="34" charset="0"/>
                <a:ea typeface="Calibri" panose="020F0502020204030204" pitchFamily="34" charset="-122"/>
                <a:cs typeface="Calibri" panose="020F0502020204030204" pitchFamily="34" charset="-120"/>
              </a:rPr>
              <a:t>All system modules were tested to ensure they behave as expected. Each function was given an expected outcome and compared against the actual result.</a:t>
            </a:r>
            <a:endParaRPr lang="en-US" sz="1250" dirty="0"/>
          </a:p>
        </p:txBody>
      </p:sp>
      <p:graphicFrame>
        <p:nvGraphicFramePr>
          <p:cNvPr id="16" name="Table 0"/>
          <p:cNvGraphicFramePr>
            <a:graphicFrameLocks noGrp="1"/>
          </p:cNvGraphicFramePr>
          <p:nvPr/>
        </p:nvGraphicFramePr>
        <p:xfrm>
          <a:off x="646430" y="1813433"/>
          <a:ext cx="7772400" cy="2760345"/>
        </p:xfrm>
        <a:graphic>
          <a:graphicData uri="http://schemas.openxmlformats.org/drawingml/2006/table">
            <a:tbl>
              <a:tblPr/>
              <a:tblGrid>
                <a:gridCol w="2011680"/>
                <a:gridCol w="2103120"/>
                <a:gridCol w="2651760"/>
                <a:gridCol w="1005840"/>
              </a:tblGrid>
              <a:tr h="394335">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Module / Function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6B0F1A"/>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Test Action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6B0F1A"/>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Expected Result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6B0F1A"/>
                    </a:solidFill>
                  </a:tcPr>
                </a:tc>
                <a:tc>
                  <a:txBody>
                    <a:bodyPr/>
                    <a:lstStyle/>
                    <a:p>
                      <a:pPr marL="0" indent="0">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Status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6B0F1A"/>
                    </a:solidFill>
                  </a:tcPr>
                </a:tc>
              </a:tr>
              <a:tr h="394335">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Login — Admin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Enter valid credentials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Access Admin Dashboard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b="1" dirty="0">
                          <a:solidFill>
                            <a:srgbClr val="1A6B2A"/>
                          </a:solidFill>
                          <a:latin typeface="Calibri" panose="020F0502020204030204" pitchFamily="34" charset="0"/>
                          <a:ea typeface="Calibri" panose="020F0502020204030204" pitchFamily="34" charset="-122"/>
                          <a:cs typeface="Calibri" panose="020F0502020204030204" pitchFamily="34" charset="-120"/>
                        </a:rPr>
                        <a:t>✓ Passed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r>
              <a:tr h="394335">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Login — Teacher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Enter valid credentials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Access Teacher Dashboard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b="1" dirty="0">
                          <a:solidFill>
                            <a:srgbClr val="1A6B2A"/>
                          </a:solidFill>
                          <a:latin typeface="Calibri" panose="020F0502020204030204" pitchFamily="34" charset="0"/>
                          <a:ea typeface="Calibri" panose="020F0502020204030204" pitchFamily="34" charset="-122"/>
                          <a:cs typeface="Calibri" panose="020F0502020204030204" pitchFamily="34" charset="-120"/>
                        </a:rPr>
                        <a:t>✓ Passed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r>
              <a:tr h="394335">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Login — Parent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Enter valid credentials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Access Parent Grade View</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b="1" dirty="0">
                          <a:solidFill>
                            <a:srgbClr val="1A6B2A"/>
                          </a:solidFill>
                          <a:latin typeface="Calibri" panose="020F0502020204030204" pitchFamily="34" charset="0"/>
                          <a:ea typeface="Calibri" panose="020F0502020204030204" pitchFamily="34" charset="-122"/>
                          <a:cs typeface="Calibri" panose="020F0502020204030204" pitchFamily="34" charset="-120"/>
                        </a:rPr>
                        <a:t>✓ Passed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r>
              <a:tr h="394335">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Upload Grades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Upload valid Excel file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Grades saved in database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b="1" dirty="0">
                          <a:solidFill>
                            <a:srgbClr val="1A6B2A"/>
                          </a:solidFill>
                          <a:latin typeface="Calibri" panose="020F0502020204030204" pitchFamily="34" charset="0"/>
                          <a:ea typeface="Calibri" panose="020F0502020204030204" pitchFamily="34" charset="-122"/>
                          <a:cs typeface="Calibri" panose="020F0502020204030204" pitchFamily="34" charset="-120"/>
                        </a:rPr>
                        <a:t>✓ Passed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r>
              <a:tr h="394335">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View Grades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Parent opens grade page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Grades displayed correctly</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c>
                  <a:txBody>
                    <a:bodyPr/>
                    <a:lstStyle/>
                    <a:p>
                      <a:pPr marL="0" indent="0">
                        <a:buNone/>
                      </a:pPr>
                      <a:r>
                        <a:rPr lang="en-US" sz="1150" b="1" dirty="0">
                          <a:solidFill>
                            <a:srgbClr val="1A6B2A"/>
                          </a:solidFill>
                          <a:latin typeface="Calibri" panose="020F0502020204030204" pitchFamily="34" charset="0"/>
                          <a:ea typeface="Calibri" panose="020F0502020204030204" pitchFamily="34" charset="-122"/>
                          <a:cs typeface="Calibri" panose="020F0502020204030204" pitchFamily="34" charset="-120"/>
                        </a:rPr>
                        <a:t>✓ Passed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FFFFF"/>
                    </a:solidFill>
                  </a:tcPr>
                </a:tc>
              </a:tr>
              <a:tr h="394335">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sym typeface="+mn-ea"/>
                        </a:rPr>
                        <a:t>Create Account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sym typeface="+mn-ea"/>
                        </a:rPr>
                        <a:t>Admin creates parent account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sym typeface="+mn-ea"/>
                        </a:rPr>
                        <a:t>Account saved and accessible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c>
                  <a:txBody>
                    <a:bodyPr/>
                    <a:lstStyle/>
                    <a:p>
                      <a:pPr marL="0" indent="0">
                        <a:buNone/>
                      </a:pPr>
                      <a:r>
                        <a:rPr lang="en-US" sz="1150" b="1" dirty="0">
                          <a:solidFill>
                            <a:srgbClr val="1A6B2A"/>
                          </a:solidFill>
                          <a:latin typeface="Calibri" panose="020F0502020204030204" pitchFamily="34" charset="0"/>
                          <a:ea typeface="Calibri" panose="020F0502020204030204" pitchFamily="34" charset="-122"/>
                          <a:cs typeface="Calibri" panose="020F0502020204030204" pitchFamily="34" charset="-120"/>
                        </a:rPr>
                        <a:t>✓ Passed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E8C5C8"/>
                      </a:solidFill>
                      <a:prstDash val="solid"/>
                      <a:round/>
                      <a:headEnd type="none" w="med" len="med"/>
                      <a:tailEnd type="none" w="med" len="med"/>
                    </a:lnL>
                    <a:lnR w="6350" cap="flat" cmpd="sng" algn="ctr">
                      <a:solidFill>
                        <a:srgbClr val="E8C5C8"/>
                      </a:solidFill>
                      <a:prstDash val="solid"/>
                      <a:round/>
                      <a:headEnd type="none" w="med" len="med"/>
                      <a:tailEnd type="none" w="med" len="med"/>
                    </a:lnR>
                    <a:lnT w="6350" cap="flat" cmpd="sng" algn="ctr">
                      <a:solidFill>
                        <a:srgbClr val="E8C5C8"/>
                      </a:solidFill>
                      <a:prstDash val="solid"/>
                      <a:round/>
                      <a:headEnd type="none" w="med" len="med"/>
                      <a:tailEnd type="none" w="med" len="med"/>
                    </a:lnT>
                    <a:lnB w="6350" cap="flat" cmpd="sng" algn="ctr">
                      <a:solidFill>
                        <a:srgbClr val="E8C5C8"/>
                      </a:solidFill>
                      <a:prstDash val="solid"/>
                      <a:round/>
                      <a:headEnd type="none" w="med" len="med"/>
                      <a:tailEnd type="none" w="med" len="med"/>
                    </a:lnB>
                    <a:solidFill>
                      <a:srgbClr val="FAF0F1"/>
                    </a:solidFill>
                  </a:tcPr>
                </a:tc>
              </a:tr>
            </a:tbl>
          </a:graphicData>
        </a:graphic>
      </p:graphicFrame>
      <p:sp>
        <p:nvSpPr>
          <p:cNvPr id="7" name="Shape 4"/>
          <p:cNvSpPr/>
          <p:nvPr/>
        </p:nvSpPr>
        <p:spPr>
          <a:xfrm>
            <a:off x="0" y="4956048"/>
            <a:ext cx="9144000" cy="182880"/>
          </a:xfrm>
          <a:prstGeom prst="rect">
            <a:avLst/>
          </a:prstGeom>
          <a:solidFill>
            <a:srgbClr val="3B0009"/>
          </a:solidFill>
          <a:ln w="12700">
            <a:solidFill>
              <a:srgbClr val="3B0009"/>
            </a:solidFill>
            <a:prstDash val="solid"/>
          </a:ln>
        </p:spPr>
      </p:sp>
      <p:sp>
        <p:nvSpPr>
          <p:cNvPr id="8" name="Text 5"/>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0F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320040" y="201168"/>
            <a:ext cx="8503920" cy="502920"/>
          </a:xfrm>
          <a:prstGeom prst="rect">
            <a:avLst/>
          </a:prstGeom>
          <a:noFill/>
        </p:spPr>
        <p:txBody>
          <a:bodyPr wrap="square" rtlCol="0" anchor="ctr"/>
          <a:lstStyle/>
          <a:p>
            <a:pPr marL="0" indent="0">
              <a:buNone/>
            </a:pPr>
            <a:r>
              <a:rPr lang="en-US" sz="2800" b="1" dirty="0">
                <a:solidFill>
                  <a:srgbClr val="6B0F1A"/>
                </a:solidFill>
                <a:latin typeface="Calibri" panose="020F0502020204030204" pitchFamily="34" charset="0"/>
                <a:ea typeface="Calibri" panose="020F0502020204030204" pitchFamily="34" charset="-122"/>
                <a:cs typeface="Calibri" panose="020F0502020204030204" pitchFamily="34" charset="-120"/>
              </a:rPr>
              <a:t>Testing — Compatibility</a:t>
            </a:r>
            <a:endParaRPr lang="en-US" sz="2800" dirty="0"/>
          </a:p>
        </p:txBody>
      </p:sp>
      <p:sp>
        <p:nvSpPr>
          <p:cNvPr id="4" name="Shape 2"/>
          <p:cNvSpPr/>
          <p:nvPr/>
        </p:nvSpPr>
        <p:spPr>
          <a:xfrm>
            <a:off x="320040" y="841248"/>
            <a:ext cx="4069080" cy="411480"/>
          </a:xfrm>
          <a:prstGeom prst="rect">
            <a:avLst/>
          </a:prstGeom>
          <a:solidFill>
            <a:srgbClr val="6B0F1A"/>
          </a:solidFill>
          <a:ln w="12700">
            <a:solidFill>
              <a:srgbClr val="6B0F1A"/>
            </a:solidFill>
            <a:prstDash val="solid"/>
          </a:ln>
        </p:spPr>
      </p:sp>
      <p:sp>
        <p:nvSpPr>
          <p:cNvPr id="5" name="Text 3"/>
          <p:cNvSpPr/>
          <p:nvPr/>
        </p:nvSpPr>
        <p:spPr>
          <a:xfrm>
            <a:off x="457200" y="896112"/>
            <a:ext cx="3840480" cy="292608"/>
          </a:xfrm>
          <a:prstGeom prst="rect">
            <a:avLst/>
          </a:prstGeom>
          <a:noFill/>
        </p:spPr>
        <p:txBody>
          <a:bodyPr wrap="square" rtlCol="0" anchor="ctr"/>
          <a:lstStyle/>
          <a:p>
            <a:pPr marL="0" indent="0">
              <a:buNone/>
            </a:pPr>
            <a:r>
              <a:rPr lang="en-US" sz="1300" b="1" dirty="0">
                <a:solidFill>
                  <a:srgbClr val="C9A84C"/>
                </a:solidFill>
                <a:latin typeface="Calibri" panose="020F0502020204030204" pitchFamily="34" charset="0"/>
                <a:ea typeface="Calibri" panose="020F0502020204030204" pitchFamily="34" charset="-122"/>
                <a:cs typeface="Calibri" panose="020F0502020204030204" pitchFamily="34" charset="-120"/>
              </a:rPr>
              <a:t>Web Browser Compatibility</a:t>
            </a:r>
            <a:endParaRPr lang="en-US" sz="1300" dirty="0"/>
          </a:p>
        </p:txBody>
      </p:sp>
      <p:sp>
        <p:nvSpPr>
          <p:cNvPr id="6" name="Shape 4"/>
          <p:cNvSpPr/>
          <p:nvPr/>
        </p:nvSpPr>
        <p:spPr>
          <a:xfrm>
            <a:off x="320040" y="1325880"/>
            <a:ext cx="4069080" cy="566928"/>
          </a:xfrm>
          <a:prstGeom prst="rect">
            <a:avLst/>
          </a:prstGeom>
          <a:solidFill>
            <a:srgbClr val="FFFFFF"/>
          </a:solidFill>
          <a:ln w="6350">
            <a:solidFill>
              <a:srgbClr val="E8C5C8"/>
            </a:solidFill>
            <a:prstDash val="solid"/>
          </a:ln>
        </p:spPr>
      </p:sp>
      <p:sp>
        <p:nvSpPr>
          <p:cNvPr id="7" name="Text 5"/>
          <p:cNvSpPr/>
          <p:nvPr/>
        </p:nvSpPr>
        <p:spPr>
          <a:xfrm>
            <a:off x="457200" y="1389888"/>
            <a:ext cx="1371600" cy="256032"/>
          </a:xfrm>
          <a:prstGeom prst="rect">
            <a:avLst/>
          </a:prstGeom>
          <a:noFill/>
        </p:spPr>
        <p:txBody>
          <a:bodyPr wrap="square" rtlCol="0" anchor="ctr"/>
          <a:lstStyle/>
          <a:p>
            <a:pPr marL="0" indent="0">
              <a:buNone/>
            </a:pPr>
            <a:r>
              <a:rPr lang="en-US" sz="1200" b="1" dirty="0">
                <a:solidFill>
                  <a:srgbClr val="6B0F1A"/>
                </a:solidFill>
                <a:latin typeface="Calibri" panose="020F0502020204030204" pitchFamily="34" charset="0"/>
                <a:ea typeface="Calibri" panose="020F0502020204030204" pitchFamily="34" charset="-122"/>
                <a:cs typeface="Calibri" panose="020F0502020204030204" pitchFamily="34" charset="-120"/>
              </a:rPr>
              <a:t>Google Chrome</a:t>
            </a:r>
            <a:endParaRPr lang="en-US" sz="1200" dirty="0"/>
          </a:p>
        </p:txBody>
      </p:sp>
      <p:sp>
        <p:nvSpPr>
          <p:cNvPr id="8" name="Text 6"/>
          <p:cNvSpPr/>
          <p:nvPr/>
        </p:nvSpPr>
        <p:spPr>
          <a:xfrm>
            <a:off x="457200" y="1645920"/>
            <a:ext cx="3749040" cy="201168"/>
          </a:xfrm>
          <a:prstGeom prst="rect">
            <a:avLst/>
          </a:prstGeom>
          <a:noFill/>
        </p:spPr>
        <p:txBody>
          <a:bodyPr wrap="square" rtlCol="0" anchor="ctr"/>
          <a:lstStyle/>
          <a:p>
            <a:pPr marL="0" indent="0">
              <a:buNone/>
            </a:pPr>
            <a:r>
              <a:rPr lang="en-US" sz="1050" dirty="0">
                <a:solidFill>
                  <a:srgbClr val="2E0A10"/>
                </a:solidFill>
                <a:latin typeface="Calibri" panose="020F0502020204030204" pitchFamily="34" charset="0"/>
                <a:ea typeface="Calibri" panose="020F0502020204030204" pitchFamily="34" charset="-122"/>
                <a:cs typeface="Calibri" panose="020F0502020204030204" pitchFamily="34" charset="-120"/>
              </a:rPr>
              <a:t>Fully Compatible — all features function correctly</a:t>
            </a:r>
            <a:endParaRPr lang="en-US" sz="1050" dirty="0"/>
          </a:p>
        </p:txBody>
      </p:sp>
      <p:sp>
        <p:nvSpPr>
          <p:cNvPr id="9" name="Shape 7"/>
          <p:cNvSpPr/>
          <p:nvPr/>
        </p:nvSpPr>
        <p:spPr>
          <a:xfrm>
            <a:off x="320040" y="1984248"/>
            <a:ext cx="4069080" cy="566928"/>
          </a:xfrm>
          <a:prstGeom prst="rect">
            <a:avLst/>
          </a:prstGeom>
          <a:solidFill>
            <a:srgbClr val="FAF0F1"/>
          </a:solidFill>
          <a:ln w="6350">
            <a:solidFill>
              <a:srgbClr val="E8C5C8"/>
            </a:solidFill>
            <a:prstDash val="solid"/>
          </a:ln>
        </p:spPr>
      </p:sp>
      <p:sp>
        <p:nvSpPr>
          <p:cNvPr id="10" name="Text 8"/>
          <p:cNvSpPr/>
          <p:nvPr/>
        </p:nvSpPr>
        <p:spPr>
          <a:xfrm>
            <a:off x="457200" y="2048256"/>
            <a:ext cx="1371600" cy="256032"/>
          </a:xfrm>
          <a:prstGeom prst="rect">
            <a:avLst/>
          </a:prstGeom>
          <a:noFill/>
        </p:spPr>
        <p:txBody>
          <a:bodyPr wrap="square" rtlCol="0" anchor="ctr"/>
          <a:lstStyle/>
          <a:p>
            <a:pPr marL="0" indent="0">
              <a:buNone/>
            </a:pPr>
            <a:r>
              <a:rPr lang="en-US" sz="1200" b="1" dirty="0">
                <a:solidFill>
                  <a:srgbClr val="6B0F1A"/>
                </a:solidFill>
                <a:latin typeface="Calibri" panose="020F0502020204030204" pitchFamily="34" charset="0"/>
                <a:ea typeface="Calibri" panose="020F0502020204030204" pitchFamily="34" charset="-122"/>
                <a:cs typeface="Calibri" panose="020F0502020204030204" pitchFamily="34" charset="-120"/>
              </a:rPr>
              <a:t>Microsoft Edge</a:t>
            </a:r>
            <a:endParaRPr lang="en-US" sz="1200" dirty="0"/>
          </a:p>
        </p:txBody>
      </p:sp>
      <p:sp>
        <p:nvSpPr>
          <p:cNvPr id="11" name="Text 9"/>
          <p:cNvSpPr/>
          <p:nvPr/>
        </p:nvSpPr>
        <p:spPr>
          <a:xfrm>
            <a:off x="457200" y="2304288"/>
            <a:ext cx="3749040" cy="201168"/>
          </a:xfrm>
          <a:prstGeom prst="rect">
            <a:avLst/>
          </a:prstGeom>
          <a:noFill/>
        </p:spPr>
        <p:txBody>
          <a:bodyPr wrap="square" rtlCol="0" anchor="ctr"/>
          <a:lstStyle/>
          <a:p>
            <a:pPr marL="0" indent="0">
              <a:buNone/>
            </a:pPr>
            <a:r>
              <a:rPr lang="en-US" sz="1050" dirty="0">
                <a:solidFill>
                  <a:srgbClr val="2E0A10"/>
                </a:solidFill>
                <a:latin typeface="Calibri" panose="020F0502020204030204" pitchFamily="34" charset="0"/>
                <a:ea typeface="Calibri" panose="020F0502020204030204" pitchFamily="34" charset="-122"/>
                <a:cs typeface="Calibri" panose="020F0502020204030204" pitchFamily="34" charset="-120"/>
              </a:rPr>
              <a:t>Fully Compatible — all features function correctly</a:t>
            </a:r>
            <a:endParaRPr lang="en-US" sz="1050" dirty="0"/>
          </a:p>
        </p:txBody>
      </p:sp>
      <p:sp>
        <p:nvSpPr>
          <p:cNvPr id="12" name="Shape 10"/>
          <p:cNvSpPr/>
          <p:nvPr/>
        </p:nvSpPr>
        <p:spPr>
          <a:xfrm>
            <a:off x="4754880" y="841248"/>
            <a:ext cx="4069080" cy="411480"/>
          </a:xfrm>
          <a:prstGeom prst="rect">
            <a:avLst/>
          </a:prstGeom>
          <a:solidFill>
            <a:srgbClr val="6B0F1A"/>
          </a:solidFill>
          <a:ln w="12700">
            <a:solidFill>
              <a:srgbClr val="6B0F1A"/>
            </a:solidFill>
            <a:prstDash val="solid"/>
          </a:ln>
        </p:spPr>
      </p:sp>
      <p:sp>
        <p:nvSpPr>
          <p:cNvPr id="13" name="Text 11"/>
          <p:cNvSpPr/>
          <p:nvPr/>
        </p:nvSpPr>
        <p:spPr>
          <a:xfrm>
            <a:off x="4892040" y="896112"/>
            <a:ext cx="3840480" cy="292608"/>
          </a:xfrm>
          <a:prstGeom prst="rect">
            <a:avLst/>
          </a:prstGeom>
          <a:noFill/>
        </p:spPr>
        <p:txBody>
          <a:bodyPr wrap="square" rtlCol="0" anchor="ctr"/>
          <a:lstStyle/>
          <a:p>
            <a:pPr marL="0" indent="0">
              <a:buNone/>
            </a:pPr>
            <a:r>
              <a:rPr lang="en-US" sz="1300" b="1" dirty="0">
                <a:solidFill>
                  <a:srgbClr val="C9A84C"/>
                </a:solidFill>
                <a:latin typeface="Calibri" panose="020F0502020204030204" pitchFamily="34" charset="0"/>
                <a:ea typeface="Calibri" panose="020F0502020204030204" pitchFamily="34" charset="-122"/>
                <a:cs typeface="Calibri" panose="020F0502020204030204" pitchFamily="34" charset="-120"/>
              </a:rPr>
              <a:t>Mobile Device Compatibility</a:t>
            </a:r>
            <a:endParaRPr lang="en-US" sz="1300" dirty="0"/>
          </a:p>
        </p:txBody>
      </p:sp>
      <p:sp>
        <p:nvSpPr>
          <p:cNvPr id="14" name="Shape 12"/>
          <p:cNvSpPr/>
          <p:nvPr/>
        </p:nvSpPr>
        <p:spPr>
          <a:xfrm>
            <a:off x="4754880" y="1325880"/>
            <a:ext cx="4069080" cy="566928"/>
          </a:xfrm>
          <a:prstGeom prst="rect">
            <a:avLst/>
          </a:prstGeom>
          <a:solidFill>
            <a:srgbClr val="FFFFFF"/>
          </a:solidFill>
          <a:ln w="6350">
            <a:solidFill>
              <a:srgbClr val="E8C5C8"/>
            </a:solidFill>
            <a:prstDash val="solid"/>
          </a:ln>
        </p:spPr>
      </p:sp>
      <p:sp>
        <p:nvSpPr>
          <p:cNvPr id="15" name="Text 13"/>
          <p:cNvSpPr/>
          <p:nvPr/>
        </p:nvSpPr>
        <p:spPr>
          <a:xfrm>
            <a:off x="4892040" y="1389888"/>
            <a:ext cx="1554480" cy="256032"/>
          </a:xfrm>
          <a:prstGeom prst="rect">
            <a:avLst/>
          </a:prstGeom>
          <a:noFill/>
        </p:spPr>
        <p:txBody>
          <a:bodyPr wrap="square" rtlCol="0" anchor="ctr"/>
          <a:lstStyle/>
          <a:p>
            <a:pPr marL="0" indent="0">
              <a:buNone/>
            </a:pPr>
            <a:r>
              <a:rPr lang="en-US" sz="1200" b="1" dirty="0">
                <a:solidFill>
                  <a:srgbClr val="6B0F1A"/>
                </a:solidFill>
                <a:latin typeface="Calibri" panose="020F0502020204030204" pitchFamily="34" charset="0"/>
                <a:ea typeface="Calibri" panose="020F0502020204030204" pitchFamily="34" charset="-122"/>
                <a:cs typeface="Calibri" panose="020F0502020204030204" pitchFamily="34" charset="-120"/>
              </a:rPr>
              <a:t>Android Phone</a:t>
            </a:r>
            <a:endParaRPr lang="en-US" sz="1200" dirty="0"/>
          </a:p>
        </p:txBody>
      </p:sp>
      <p:sp>
        <p:nvSpPr>
          <p:cNvPr id="16" name="Text 14"/>
          <p:cNvSpPr/>
          <p:nvPr/>
        </p:nvSpPr>
        <p:spPr>
          <a:xfrm>
            <a:off x="4892040" y="1645920"/>
            <a:ext cx="3749040" cy="201168"/>
          </a:xfrm>
          <a:prstGeom prst="rect">
            <a:avLst/>
          </a:prstGeom>
          <a:noFill/>
        </p:spPr>
        <p:txBody>
          <a:bodyPr wrap="square" rtlCol="0" anchor="ctr"/>
          <a:lstStyle/>
          <a:p>
            <a:pPr marL="0" indent="0">
              <a:buNone/>
            </a:pPr>
            <a:r>
              <a:rPr lang="en-US" sz="1050" dirty="0">
                <a:solidFill>
                  <a:srgbClr val="2E0A10"/>
                </a:solidFill>
                <a:latin typeface="Calibri" panose="020F0502020204030204" pitchFamily="34" charset="0"/>
                <a:ea typeface="Calibri" panose="020F0502020204030204" pitchFamily="34" charset="-122"/>
                <a:cs typeface="Calibri" panose="020F0502020204030204" pitchFamily="34" charset="-120"/>
              </a:rPr>
              <a:t>Compatible — responsive design adapts correctly to small screens</a:t>
            </a:r>
            <a:endParaRPr lang="en-US" sz="1050" dirty="0"/>
          </a:p>
        </p:txBody>
      </p:sp>
      <p:sp>
        <p:nvSpPr>
          <p:cNvPr id="17" name="Shape 15"/>
          <p:cNvSpPr/>
          <p:nvPr/>
        </p:nvSpPr>
        <p:spPr>
          <a:xfrm>
            <a:off x="4754880" y="1984248"/>
            <a:ext cx="4069080" cy="566928"/>
          </a:xfrm>
          <a:prstGeom prst="rect">
            <a:avLst/>
          </a:prstGeom>
          <a:solidFill>
            <a:srgbClr val="FAF0F1"/>
          </a:solidFill>
          <a:ln w="6350">
            <a:solidFill>
              <a:srgbClr val="E8C5C8"/>
            </a:solidFill>
            <a:prstDash val="solid"/>
          </a:ln>
        </p:spPr>
      </p:sp>
      <p:sp>
        <p:nvSpPr>
          <p:cNvPr id="18" name="Text 16"/>
          <p:cNvSpPr/>
          <p:nvPr/>
        </p:nvSpPr>
        <p:spPr>
          <a:xfrm>
            <a:off x="4892040" y="2048256"/>
            <a:ext cx="1554480" cy="256032"/>
          </a:xfrm>
          <a:prstGeom prst="rect">
            <a:avLst/>
          </a:prstGeom>
          <a:noFill/>
        </p:spPr>
        <p:txBody>
          <a:bodyPr wrap="square" rtlCol="0" anchor="ctr"/>
          <a:lstStyle/>
          <a:p>
            <a:pPr marL="0" indent="0">
              <a:buNone/>
            </a:pPr>
            <a:r>
              <a:rPr lang="en-US" sz="1200" b="1" dirty="0">
                <a:solidFill>
                  <a:srgbClr val="6B0F1A"/>
                </a:solidFill>
                <a:latin typeface="Calibri" panose="020F0502020204030204" pitchFamily="34" charset="0"/>
                <a:ea typeface="Calibri" panose="020F0502020204030204" pitchFamily="34" charset="-122"/>
                <a:cs typeface="Calibri" panose="020F0502020204030204" pitchFamily="34" charset="-120"/>
              </a:rPr>
              <a:t>Tablet</a:t>
            </a:r>
            <a:endParaRPr lang="en-US" sz="1200" dirty="0"/>
          </a:p>
        </p:txBody>
      </p:sp>
      <p:sp>
        <p:nvSpPr>
          <p:cNvPr id="19" name="Text 17"/>
          <p:cNvSpPr/>
          <p:nvPr/>
        </p:nvSpPr>
        <p:spPr>
          <a:xfrm>
            <a:off x="4892040" y="2304288"/>
            <a:ext cx="3749040" cy="201168"/>
          </a:xfrm>
          <a:prstGeom prst="rect">
            <a:avLst/>
          </a:prstGeom>
          <a:noFill/>
        </p:spPr>
        <p:txBody>
          <a:bodyPr wrap="square" rtlCol="0" anchor="ctr"/>
          <a:lstStyle/>
          <a:p>
            <a:pPr marL="0" indent="0">
              <a:buNone/>
            </a:pPr>
            <a:r>
              <a:rPr lang="en-US" sz="1050" dirty="0">
                <a:solidFill>
                  <a:srgbClr val="2E0A10"/>
                </a:solidFill>
                <a:latin typeface="Calibri" panose="020F0502020204030204" pitchFamily="34" charset="0"/>
                <a:ea typeface="Calibri" panose="020F0502020204030204" pitchFamily="34" charset="-122"/>
                <a:cs typeface="Calibri" panose="020F0502020204030204" pitchFamily="34" charset="-120"/>
              </a:rPr>
              <a:t>Compatible — layout scales properly on larger touch screens</a:t>
            </a:r>
            <a:endParaRPr lang="en-US" sz="1050" dirty="0"/>
          </a:p>
        </p:txBody>
      </p:sp>
      <p:sp>
        <p:nvSpPr>
          <p:cNvPr id="20" name="Shape 18"/>
          <p:cNvSpPr/>
          <p:nvPr/>
        </p:nvSpPr>
        <p:spPr>
          <a:xfrm>
            <a:off x="320040" y="2761488"/>
            <a:ext cx="8503920" cy="1938528"/>
          </a:xfrm>
          <a:prstGeom prst="rect">
            <a:avLst/>
          </a:prstGeom>
          <a:solidFill>
            <a:srgbClr val="6B0F1A"/>
          </a:solidFill>
          <a:ln w="12700">
            <a:solidFill>
              <a:srgbClr val="E8C5C8"/>
            </a:solidFill>
            <a:prstDash val="solid"/>
          </a:ln>
          <a:effectLst>
            <a:outerShdw blurRad="63500" dist="25400" dir="8100000" algn="bl" rotWithShape="0">
              <a:srgbClr val="000000">
                <a:alpha val="7000"/>
              </a:srgbClr>
            </a:outerShdw>
          </a:effectLst>
        </p:spPr>
      </p:sp>
      <p:sp>
        <p:nvSpPr>
          <p:cNvPr id="21" name="Text 19"/>
          <p:cNvSpPr/>
          <p:nvPr/>
        </p:nvSpPr>
        <p:spPr>
          <a:xfrm>
            <a:off x="502920" y="2852928"/>
            <a:ext cx="2743200" cy="320040"/>
          </a:xfrm>
          <a:prstGeom prst="rect">
            <a:avLst/>
          </a:prstGeom>
          <a:noFill/>
        </p:spPr>
        <p:txBody>
          <a:bodyPr wrap="square" rtlCol="0" anchor="ctr"/>
          <a:lstStyle/>
          <a:p>
            <a:pPr marL="0" indent="0">
              <a:buNone/>
            </a:pPr>
            <a:r>
              <a:rPr lang="en-US" sz="1300" b="1" dirty="0">
                <a:solidFill>
                  <a:srgbClr val="C9A84C"/>
                </a:solidFill>
                <a:latin typeface="Calibri" panose="020F0502020204030204" pitchFamily="34" charset="0"/>
                <a:ea typeface="Calibri" panose="020F0502020204030204" pitchFamily="34" charset="-122"/>
                <a:cs typeface="Calibri" panose="020F0502020204030204" pitchFamily="34" charset="-120"/>
              </a:rPr>
              <a:t>Testing Summary</a:t>
            </a:r>
            <a:endParaRPr lang="en-US" sz="1300" dirty="0"/>
          </a:p>
        </p:txBody>
      </p:sp>
      <p:sp>
        <p:nvSpPr>
          <p:cNvPr id="22" name="Text 20"/>
          <p:cNvSpPr/>
          <p:nvPr/>
        </p:nvSpPr>
        <p:spPr>
          <a:xfrm>
            <a:off x="502920" y="3218688"/>
            <a:ext cx="8229600" cy="1353312"/>
          </a:xfrm>
          <a:prstGeom prst="rect">
            <a:avLst/>
          </a:prstGeom>
          <a:noFill/>
        </p:spPr>
        <p:txBody>
          <a:bodyPr wrap="square" rtlCol="0" anchor="ctr"/>
          <a:lstStyle/>
          <a:p>
            <a:pPr marL="342900" indent="-342900">
              <a:spcAft>
                <a:spcPts val="5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All 4 functionality modules passed with results matching expected behavior.</a:t>
            </a:r>
            <a:endParaRPr lang="en-US" sz="1200" dirty="0"/>
          </a:p>
          <a:p>
            <a:pPr marL="342900" indent="-342900">
              <a:spcAft>
                <a:spcPts val="5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The system was confirmed to be fully responsive across mobile and desktop screen sizes.</a:t>
            </a:r>
            <a:endParaRPr lang="en-US" sz="1200" dirty="0"/>
          </a:p>
          <a:p>
            <a:pPr marL="342900" indent="-342900">
              <a:spcAft>
                <a:spcPts val="5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Both major browsers tested (Chrome and Edge) rendered all pages and functions correctly.</a:t>
            </a:r>
            <a:endParaRPr lang="en-US" sz="1200" dirty="0"/>
          </a:p>
          <a:p>
            <a:pPr marL="342900" indent="-342900">
              <a:spcAft>
                <a:spcPts val="500"/>
              </a:spcAft>
              <a:buSzPct val="100000"/>
              <a:buChar char="•"/>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Android devices (phone and tablet) showed no layout or functional issues.</a:t>
            </a:r>
            <a:endParaRPr lang="en-US" sz="1200" dirty="0"/>
          </a:p>
        </p:txBody>
      </p:sp>
      <p:sp>
        <p:nvSpPr>
          <p:cNvPr id="23" name="Shape 21"/>
          <p:cNvSpPr/>
          <p:nvPr/>
        </p:nvSpPr>
        <p:spPr>
          <a:xfrm>
            <a:off x="0" y="4956048"/>
            <a:ext cx="9144000" cy="182880"/>
          </a:xfrm>
          <a:prstGeom prst="rect">
            <a:avLst/>
          </a:prstGeom>
          <a:solidFill>
            <a:srgbClr val="3B0009"/>
          </a:solidFill>
          <a:ln w="12700">
            <a:solidFill>
              <a:srgbClr val="3B0009"/>
            </a:solidFill>
            <a:prstDash val="solid"/>
          </a:ln>
        </p:spPr>
      </p:sp>
      <p:sp>
        <p:nvSpPr>
          <p:cNvPr id="24" name="Text 22"/>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6B0F1A"/>
          </a:solidFill>
          <a:ln w="12700">
            <a:solidFill>
              <a:srgbClr val="6B0F1A"/>
            </a:solidFill>
            <a:prstDash val="solid"/>
          </a:ln>
        </p:spPr>
      </p:sp>
      <p:sp>
        <p:nvSpPr>
          <p:cNvPr id="3" name="Text 1"/>
          <p:cNvSpPr/>
          <p:nvPr/>
        </p:nvSpPr>
        <p:spPr>
          <a:xfrm>
            <a:off x="411480" y="182880"/>
            <a:ext cx="8321040" cy="594360"/>
          </a:xfrm>
          <a:prstGeom prst="rect">
            <a:avLst/>
          </a:prstGeom>
          <a:noFill/>
        </p:spPr>
        <p:txBody>
          <a:bodyPr wrap="square" rtlCol="0" anchor="ctr"/>
          <a:lstStyle/>
          <a:p>
            <a:pPr marL="0" indent="0">
              <a:buNone/>
            </a:pPr>
            <a:r>
              <a:rPr lang="en-US" sz="28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Chapter 4: Results &amp; Discussion</a:t>
            </a:r>
            <a:endParaRPr lang="en-US" sz="2800" dirty="0"/>
          </a:p>
        </p:txBody>
      </p:sp>
      <p:sp>
        <p:nvSpPr>
          <p:cNvPr id="4" name="Shape 2"/>
          <p:cNvSpPr/>
          <p:nvPr/>
        </p:nvSpPr>
        <p:spPr>
          <a:xfrm>
            <a:off x="411480" y="804672"/>
            <a:ext cx="1005840" cy="54864"/>
          </a:xfrm>
          <a:prstGeom prst="rect">
            <a:avLst/>
          </a:prstGeom>
          <a:solidFill>
            <a:srgbClr val="C9A84C"/>
          </a:solidFill>
          <a:ln w="12700">
            <a:solidFill>
              <a:srgbClr val="C9A84C"/>
            </a:solidFill>
            <a:prstDash val="solid"/>
          </a:ln>
        </p:spPr>
      </p:sp>
      <p:sp>
        <p:nvSpPr>
          <p:cNvPr id="5" name="Text 3"/>
          <p:cNvSpPr/>
          <p:nvPr/>
        </p:nvSpPr>
        <p:spPr>
          <a:xfrm>
            <a:off x="411480" y="1078992"/>
            <a:ext cx="8321040" cy="347472"/>
          </a:xfrm>
          <a:prstGeom prst="rect">
            <a:avLst/>
          </a:prstGeom>
          <a:noFill/>
        </p:spPr>
        <p:txBody>
          <a:bodyPr wrap="square" rtlCol="0" anchor="ctr"/>
          <a:lstStyle/>
          <a:p>
            <a:pPr marL="0" indent="0">
              <a:buNone/>
            </a:pPr>
            <a:r>
              <a:rPr lang="en-US" sz="1400" b="1" dirty="0">
                <a:solidFill>
                  <a:srgbClr val="6B0F1A"/>
                </a:solidFill>
                <a:latin typeface="Calibri" panose="020F0502020204030204" pitchFamily="34" charset="0"/>
                <a:ea typeface="Calibri" panose="020F0502020204030204" pitchFamily="34" charset="-122"/>
                <a:cs typeface="Calibri" panose="020F0502020204030204" pitchFamily="34" charset="-120"/>
              </a:rPr>
              <a:t>What the system will achieved:</a:t>
            </a:r>
            <a:endParaRPr lang="en-US" sz="1400" dirty="0"/>
          </a:p>
        </p:txBody>
      </p:sp>
      <p:sp>
        <p:nvSpPr>
          <p:cNvPr id="6" name="Shape 4"/>
          <p:cNvSpPr/>
          <p:nvPr/>
        </p:nvSpPr>
        <p:spPr>
          <a:xfrm>
            <a:off x="320040" y="1536192"/>
            <a:ext cx="4069080" cy="1389888"/>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7" name="Shape 5"/>
          <p:cNvSpPr/>
          <p:nvPr/>
        </p:nvSpPr>
        <p:spPr>
          <a:xfrm>
            <a:off x="320040" y="1536192"/>
            <a:ext cx="91440" cy="1389888"/>
          </a:xfrm>
          <a:prstGeom prst="rect">
            <a:avLst/>
          </a:prstGeom>
          <a:solidFill>
            <a:srgbClr val="C9A84C"/>
          </a:solidFill>
          <a:ln w="12700">
            <a:solidFill>
              <a:srgbClr val="C9A84C"/>
            </a:solidFill>
            <a:prstDash val="solid"/>
          </a:ln>
        </p:spPr>
      </p:sp>
      <p:sp>
        <p:nvSpPr>
          <p:cNvPr id="8" name="Text 6"/>
          <p:cNvSpPr/>
          <p:nvPr/>
        </p:nvSpPr>
        <p:spPr>
          <a:xfrm>
            <a:off x="502920" y="1627632"/>
            <a:ext cx="3749040" cy="320040"/>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Efficient Grade Management</a:t>
            </a:r>
            <a:endParaRPr lang="en-US" sz="1300" dirty="0"/>
          </a:p>
        </p:txBody>
      </p:sp>
      <p:sp>
        <p:nvSpPr>
          <p:cNvPr id="9" name="Text 7"/>
          <p:cNvSpPr/>
          <p:nvPr/>
        </p:nvSpPr>
        <p:spPr>
          <a:xfrm>
            <a:off x="502920" y="1993392"/>
            <a:ext cx="3749040" cy="804672"/>
          </a:xfrm>
          <a:prstGeom prst="rect">
            <a:avLst/>
          </a:prstGeom>
          <a:noFill/>
        </p:spPr>
        <p:txBody>
          <a:bodyPr wrap="square" rtlCol="0" anchor="ct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Teachers can now upload all student grades in one action using an Excel file, eliminating manual data entry and reducing errors. The system automatically saves and organizes the data per subject and quarter.</a:t>
            </a:r>
            <a:endParaRPr lang="en-US" sz="1150" dirty="0"/>
          </a:p>
        </p:txBody>
      </p:sp>
      <p:sp>
        <p:nvSpPr>
          <p:cNvPr id="10" name="Shape 8"/>
          <p:cNvSpPr/>
          <p:nvPr/>
        </p:nvSpPr>
        <p:spPr>
          <a:xfrm>
            <a:off x="4754880" y="1536192"/>
            <a:ext cx="4069080" cy="1389888"/>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1" name="Shape 9"/>
          <p:cNvSpPr/>
          <p:nvPr/>
        </p:nvSpPr>
        <p:spPr>
          <a:xfrm>
            <a:off x="4754880" y="1536192"/>
            <a:ext cx="91440" cy="1389888"/>
          </a:xfrm>
          <a:prstGeom prst="rect">
            <a:avLst/>
          </a:prstGeom>
          <a:solidFill>
            <a:srgbClr val="C9A84C"/>
          </a:solidFill>
          <a:ln w="12700">
            <a:solidFill>
              <a:srgbClr val="C9A84C"/>
            </a:solidFill>
            <a:prstDash val="solid"/>
          </a:ln>
        </p:spPr>
      </p:sp>
      <p:sp>
        <p:nvSpPr>
          <p:cNvPr id="12" name="Text 10"/>
          <p:cNvSpPr/>
          <p:nvPr/>
        </p:nvSpPr>
        <p:spPr>
          <a:xfrm>
            <a:off x="4937760" y="1627632"/>
            <a:ext cx="3749040" cy="320040"/>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Parent Access to Academic Records</a:t>
            </a:r>
            <a:endParaRPr lang="en-US" sz="1300" dirty="0"/>
          </a:p>
        </p:txBody>
      </p:sp>
      <p:sp>
        <p:nvSpPr>
          <p:cNvPr id="13" name="Text 11"/>
          <p:cNvSpPr/>
          <p:nvPr/>
        </p:nvSpPr>
        <p:spPr>
          <a:xfrm>
            <a:off x="4937760" y="1993392"/>
            <a:ext cx="3749040" cy="804672"/>
          </a:xfrm>
          <a:prstGeom prst="rect">
            <a:avLst/>
          </a:prstGeom>
          <a:noFill/>
        </p:spPr>
        <p:txBody>
          <a:bodyPr wrap="square" rtlCol="0" anchor="ct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Parents have a dedicated, secure account where they can log in anytime and view their child's grades per subject and per grading period — no need to go to the school or wait for report cards.</a:t>
            </a:r>
            <a:endParaRPr lang="en-US" sz="1150" dirty="0"/>
          </a:p>
        </p:txBody>
      </p:sp>
      <p:sp>
        <p:nvSpPr>
          <p:cNvPr id="14" name="Shape 12"/>
          <p:cNvSpPr/>
          <p:nvPr/>
        </p:nvSpPr>
        <p:spPr>
          <a:xfrm>
            <a:off x="320040" y="3072384"/>
            <a:ext cx="4069080" cy="1389888"/>
          </a:xfrm>
          <a:prstGeom prst="rect">
            <a:avLst/>
          </a:prstGeom>
          <a:solidFill>
            <a:srgbClr val="FAF0F1"/>
          </a:solidFill>
          <a:ln w="12700">
            <a:solidFill>
              <a:srgbClr val="E8C5C8"/>
            </a:solidFill>
            <a:prstDash val="solid"/>
          </a:ln>
          <a:effectLst>
            <a:outerShdw blurRad="63500" dist="25400" dir="8100000" algn="bl" rotWithShape="0">
              <a:srgbClr val="000000">
                <a:alpha val="7000"/>
              </a:srgbClr>
            </a:outerShdw>
          </a:effectLst>
        </p:spPr>
      </p:sp>
      <p:sp>
        <p:nvSpPr>
          <p:cNvPr id="15" name="Shape 13"/>
          <p:cNvSpPr/>
          <p:nvPr/>
        </p:nvSpPr>
        <p:spPr>
          <a:xfrm>
            <a:off x="320040" y="3072384"/>
            <a:ext cx="91440" cy="1389888"/>
          </a:xfrm>
          <a:prstGeom prst="rect">
            <a:avLst/>
          </a:prstGeom>
          <a:solidFill>
            <a:srgbClr val="C9A84C"/>
          </a:solidFill>
          <a:ln w="12700">
            <a:solidFill>
              <a:srgbClr val="C9A84C"/>
            </a:solidFill>
            <a:prstDash val="solid"/>
          </a:ln>
        </p:spPr>
      </p:sp>
      <p:sp>
        <p:nvSpPr>
          <p:cNvPr id="16" name="Text 14"/>
          <p:cNvSpPr/>
          <p:nvPr/>
        </p:nvSpPr>
        <p:spPr>
          <a:xfrm>
            <a:off x="502920" y="3163824"/>
            <a:ext cx="3749040" cy="320040"/>
          </a:xfrm>
          <a:prstGeom prst="rect">
            <a:avLst/>
          </a:prstGeom>
          <a:noFill/>
        </p:spPr>
        <p:txBody>
          <a:bodyPr wrap="square" rtlCol="0" anchor="ctr"/>
          <a:lstStyle/>
          <a:p>
            <a:pPr marL="0" indent="0">
              <a:buNone/>
            </a:pPr>
            <a:r>
              <a:rPr lang="en-US" sz="1300" b="1" dirty="0">
                <a:solidFill>
                  <a:srgbClr val="6B0F1A"/>
                </a:solidFill>
                <a:latin typeface="Calibri" panose="020F0502020204030204" pitchFamily="34" charset="0"/>
                <a:ea typeface="Calibri" panose="020F0502020204030204" pitchFamily="34" charset="-122"/>
                <a:cs typeface="Calibri" panose="020F0502020204030204" pitchFamily="34" charset="-120"/>
              </a:rPr>
              <a:t>Secure Role-Based System</a:t>
            </a:r>
            <a:endParaRPr lang="en-US" sz="1300" dirty="0"/>
          </a:p>
        </p:txBody>
      </p:sp>
      <p:sp>
        <p:nvSpPr>
          <p:cNvPr id="17" name="Text 15"/>
          <p:cNvSpPr/>
          <p:nvPr/>
        </p:nvSpPr>
        <p:spPr>
          <a:xfrm>
            <a:off x="502920" y="3529584"/>
            <a:ext cx="3749040" cy="804672"/>
          </a:xfrm>
          <a:prstGeom prst="rect">
            <a:avLst/>
          </a:prstGeom>
          <a:noFill/>
        </p:spPr>
        <p:txBody>
          <a:bodyPr wrap="square" rtlCol="0" anchor="ctr"/>
          <a:lstStyle/>
          <a:p>
            <a:pPr marL="0" indent="0">
              <a:buNone/>
            </a:pPr>
            <a:r>
              <a:rPr lang="en-US" sz="1150" dirty="0">
                <a:solidFill>
                  <a:srgbClr val="2E0A10"/>
                </a:solidFill>
                <a:latin typeface="Calibri" panose="020F0502020204030204" pitchFamily="34" charset="0"/>
                <a:ea typeface="Calibri" panose="020F0502020204030204" pitchFamily="34" charset="-122"/>
                <a:cs typeface="Calibri" panose="020F0502020204030204" pitchFamily="34" charset="-120"/>
              </a:rPr>
              <a:t>The system enforces strict access control. Admins manage accounts, teachers manage grades, and parents only view. No unauthorized user can gain access to another student's records.</a:t>
            </a:r>
            <a:endParaRPr lang="en-US" sz="1150" dirty="0"/>
          </a:p>
        </p:txBody>
      </p:sp>
      <p:sp>
        <p:nvSpPr>
          <p:cNvPr id="20" name="Text 18"/>
          <p:cNvSpPr/>
          <p:nvPr/>
        </p:nvSpPr>
        <p:spPr>
          <a:xfrm>
            <a:off x="4937760" y="3163824"/>
            <a:ext cx="3749040" cy="320040"/>
          </a:xfrm>
          <a:prstGeom prst="rect">
            <a:avLst/>
          </a:prstGeom>
          <a:noFill/>
        </p:spPr>
        <p:txBody>
          <a:bodyPr wrap="square" rtlCol="0" anchor="ctr"/>
          <a:lstStyle/>
          <a:p>
            <a:pPr marL="0" indent="0">
              <a:buNone/>
            </a:pPr>
            <a:endParaRPr lang="en-US" sz="1300" dirty="0"/>
          </a:p>
        </p:txBody>
      </p:sp>
      <p:sp>
        <p:nvSpPr>
          <p:cNvPr id="21" name="Text 19"/>
          <p:cNvSpPr/>
          <p:nvPr/>
        </p:nvSpPr>
        <p:spPr>
          <a:xfrm>
            <a:off x="4937760" y="3529584"/>
            <a:ext cx="3749040" cy="804672"/>
          </a:xfrm>
          <a:prstGeom prst="rect">
            <a:avLst/>
          </a:prstGeom>
          <a:noFill/>
        </p:spPr>
        <p:txBody>
          <a:bodyPr wrap="square" rtlCol="0" anchor="ctr"/>
          <a:lstStyle/>
          <a:p>
            <a:pPr marL="0" indent="0">
              <a:buNone/>
            </a:pPr>
            <a:endParaRPr lang="en-US" sz="1150" dirty="0"/>
          </a:p>
        </p:txBody>
      </p:sp>
      <p:sp>
        <p:nvSpPr>
          <p:cNvPr id="22" name="Shape 20"/>
          <p:cNvSpPr/>
          <p:nvPr/>
        </p:nvSpPr>
        <p:spPr>
          <a:xfrm>
            <a:off x="0" y="4956048"/>
            <a:ext cx="9144000" cy="182880"/>
          </a:xfrm>
          <a:prstGeom prst="rect">
            <a:avLst/>
          </a:prstGeom>
          <a:solidFill>
            <a:srgbClr val="3B0009"/>
          </a:solidFill>
          <a:ln w="12700">
            <a:solidFill>
              <a:srgbClr val="3B0009"/>
            </a:solidFill>
            <a:prstDash val="solid"/>
          </a:ln>
        </p:spPr>
      </p:sp>
      <p:sp>
        <p:nvSpPr>
          <p:cNvPr id="23" name="Text 21"/>
          <p:cNvSpPr/>
          <p:nvPr/>
        </p:nvSpPr>
        <p:spPr>
          <a:xfrm>
            <a:off x="274320" y="4974336"/>
            <a:ext cx="8595360" cy="146304"/>
          </a:xfrm>
          <a:prstGeom prst="rect">
            <a:avLst/>
          </a:prstGeom>
          <a:noFill/>
        </p:spPr>
        <p:txBody>
          <a:bodyPr wrap="square" rtlCol="0" anchor="ctr"/>
          <a:lstStyle/>
          <a:p>
            <a:pPr marL="0" indent="0" algn="ctr">
              <a:buNone/>
            </a:pPr>
            <a:r>
              <a:rPr lang="en-US" sz="900" dirty="0">
                <a:solidFill>
                  <a:srgbClr val="A87070"/>
                </a:solidFill>
                <a:latin typeface="Calibri" panose="020F0502020204030204" pitchFamily="34" charset="0"/>
                <a:ea typeface="Calibri" panose="020F0502020204030204" pitchFamily="34" charset="-122"/>
                <a:cs typeface="Calibri" panose="020F0502020204030204" pitchFamily="34" charset="-120"/>
              </a:rPr>
              <a:t>Academic Grading Platform  |  Bunawan Aplaya Elementary School  |  S.Y. 2026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B0009"/>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9A84C"/>
          </a:solidFill>
          <a:ln w="12700">
            <a:solidFill>
              <a:srgbClr val="C9A84C"/>
            </a:solidFill>
            <a:prstDash val="solid"/>
          </a:ln>
        </p:spPr>
      </p:sp>
      <p:sp>
        <p:nvSpPr>
          <p:cNvPr id="3" name="Shape 1"/>
          <p:cNvSpPr/>
          <p:nvPr/>
        </p:nvSpPr>
        <p:spPr>
          <a:xfrm>
            <a:off x="0" y="5074920"/>
            <a:ext cx="9144000" cy="64008"/>
          </a:xfrm>
          <a:prstGeom prst="rect">
            <a:avLst/>
          </a:prstGeom>
          <a:solidFill>
            <a:srgbClr val="9B1D28"/>
          </a:solidFill>
          <a:ln w="12700">
            <a:solidFill>
              <a:srgbClr val="9B1D28"/>
            </a:solidFill>
            <a:prstDash val="solid"/>
          </a:ln>
        </p:spPr>
      </p:sp>
      <p:sp>
        <p:nvSpPr>
          <p:cNvPr id="4" name="Text 2"/>
          <p:cNvSpPr/>
          <p:nvPr/>
        </p:nvSpPr>
        <p:spPr>
          <a:xfrm>
            <a:off x="457200" y="384048"/>
            <a:ext cx="8229600" cy="640080"/>
          </a:xfrm>
          <a:prstGeom prst="rect">
            <a:avLst/>
          </a:prstGeom>
          <a:noFill/>
        </p:spPr>
        <p:txBody>
          <a:bodyPr wrap="square" rtlCol="0" anchor="ctr"/>
          <a:lstStyle/>
          <a:p>
            <a:pPr marL="0" indent="0" algn="ctr">
              <a:buNone/>
            </a:pPr>
            <a:r>
              <a:rPr lang="en-US" sz="3600" b="1"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lang="en-US" sz="3600" dirty="0"/>
          </a:p>
        </p:txBody>
      </p:sp>
      <p:sp>
        <p:nvSpPr>
          <p:cNvPr id="5" name="Shape 3"/>
          <p:cNvSpPr/>
          <p:nvPr/>
        </p:nvSpPr>
        <p:spPr>
          <a:xfrm>
            <a:off x="3200400" y="1078992"/>
            <a:ext cx="2743200" cy="45720"/>
          </a:xfrm>
          <a:prstGeom prst="rect">
            <a:avLst/>
          </a:prstGeom>
          <a:solidFill>
            <a:srgbClr val="C9A84C"/>
          </a:solidFill>
          <a:ln w="12700">
            <a:solidFill>
              <a:srgbClr val="C9A84C"/>
            </a:solidFill>
            <a:prstDash val="solid"/>
          </a:ln>
        </p:spPr>
      </p:sp>
      <p:sp>
        <p:nvSpPr>
          <p:cNvPr id="6" name="Shape 4"/>
          <p:cNvSpPr/>
          <p:nvPr/>
        </p:nvSpPr>
        <p:spPr>
          <a:xfrm>
            <a:off x="411480" y="1261872"/>
            <a:ext cx="347472" cy="347472"/>
          </a:xfrm>
          <a:prstGeom prst="rect">
            <a:avLst/>
          </a:prstGeom>
          <a:solidFill>
            <a:srgbClr val="C9A84C"/>
          </a:solidFill>
          <a:ln w="12700">
            <a:solidFill>
              <a:srgbClr val="C9A84C"/>
            </a:solidFill>
            <a:prstDash val="solid"/>
          </a:ln>
        </p:spPr>
      </p:sp>
      <p:sp>
        <p:nvSpPr>
          <p:cNvPr id="7" name="Text 5"/>
          <p:cNvSpPr/>
          <p:nvPr/>
        </p:nvSpPr>
        <p:spPr>
          <a:xfrm>
            <a:off x="411480" y="1280160"/>
            <a:ext cx="347472" cy="310896"/>
          </a:xfrm>
          <a:prstGeom prst="rect">
            <a:avLst/>
          </a:prstGeom>
          <a:noFill/>
        </p:spPr>
        <p:txBody>
          <a:bodyPr wrap="square" rtlCol="0" anchor="ctr"/>
          <a:lstStyle/>
          <a:p>
            <a:pPr marL="0" indent="0" algn="ctr">
              <a:buNone/>
            </a:pPr>
            <a:r>
              <a:rPr lang="en-US" sz="1400" b="1" dirty="0">
                <a:solidFill>
                  <a:srgbClr val="3B0009"/>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8" name="Text 6"/>
          <p:cNvSpPr/>
          <p:nvPr/>
        </p:nvSpPr>
        <p:spPr>
          <a:xfrm>
            <a:off x="914400" y="1234440"/>
            <a:ext cx="7863840" cy="749808"/>
          </a:xfrm>
          <a:prstGeom prst="rect">
            <a:avLst/>
          </a:prstGeom>
          <a:noFill/>
        </p:spPr>
        <p:txBody>
          <a:bodyPr wrap="square" rtlCol="0" anchor="ctr"/>
          <a:lstStyle/>
          <a:p>
            <a:pPr marL="0" indent="0">
              <a:buNone/>
            </a:pPr>
            <a:r>
              <a:rPr lang="en-US" sz="1250" dirty="0">
                <a:solidFill>
                  <a:srgbClr val="F2D9DB"/>
                </a:solidFill>
                <a:latin typeface="Calibri" panose="020F0502020204030204" pitchFamily="34" charset="0"/>
                <a:ea typeface="Calibri" panose="020F0502020204030204" pitchFamily="34" charset="-122"/>
                <a:cs typeface="Calibri" panose="020F0502020204030204" pitchFamily="34" charset="-120"/>
              </a:rPr>
              <a:t>The Academic Grading Platform successfully addresses the academic monitoring gap in Bunawan Aplaya Elementary School — a school where manual records and limited parent access had long been a problem.</a:t>
            </a:r>
            <a:endParaRPr lang="en-US" sz="1250" dirty="0"/>
          </a:p>
        </p:txBody>
      </p:sp>
      <p:sp>
        <p:nvSpPr>
          <p:cNvPr id="9" name="Shape 7"/>
          <p:cNvSpPr/>
          <p:nvPr/>
        </p:nvSpPr>
        <p:spPr>
          <a:xfrm>
            <a:off x="411480" y="2157984"/>
            <a:ext cx="347472" cy="347472"/>
          </a:xfrm>
          <a:prstGeom prst="rect">
            <a:avLst/>
          </a:prstGeom>
          <a:solidFill>
            <a:srgbClr val="C9A84C"/>
          </a:solidFill>
          <a:ln w="12700">
            <a:solidFill>
              <a:srgbClr val="C9A84C"/>
            </a:solidFill>
            <a:prstDash val="solid"/>
          </a:ln>
        </p:spPr>
      </p:sp>
      <p:sp>
        <p:nvSpPr>
          <p:cNvPr id="10" name="Text 8"/>
          <p:cNvSpPr/>
          <p:nvPr/>
        </p:nvSpPr>
        <p:spPr>
          <a:xfrm>
            <a:off x="411480" y="2176272"/>
            <a:ext cx="347472" cy="310896"/>
          </a:xfrm>
          <a:prstGeom prst="rect">
            <a:avLst/>
          </a:prstGeom>
          <a:noFill/>
        </p:spPr>
        <p:txBody>
          <a:bodyPr wrap="square" rtlCol="0" anchor="ctr"/>
          <a:lstStyle/>
          <a:p>
            <a:pPr marL="0" indent="0" algn="ctr">
              <a:buNone/>
            </a:pPr>
            <a:r>
              <a:rPr lang="en-US" sz="1400" b="1" dirty="0">
                <a:solidFill>
                  <a:srgbClr val="3B0009"/>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1" name="Text 9"/>
          <p:cNvSpPr/>
          <p:nvPr/>
        </p:nvSpPr>
        <p:spPr>
          <a:xfrm>
            <a:off x="914400" y="2130552"/>
            <a:ext cx="7863840" cy="749808"/>
          </a:xfrm>
          <a:prstGeom prst="rect">
            <a:avLst/>
          </a:prstGeom>
          <a:noFill/>
        </p:spPr>
        <p:txBody>
          <a:bodyPr wrap="square" rtlCol="0" anchor="ctr"/>
          <a:lstStyle/>
          <a:p>
            <a:pPr marL="0" indent="0">
              <a:buNone/>
            </a:pPr>
            <a:r>
              <a:rPr lang="en-US" sz="1250" dirty="0">
                <a:solidFill>
                  <a:srgbClr val="F2D9DB"/>
                </a:solidFill>
                <a:latin typeface="Calibri" panose="020F0502020204030204" pitchFamily="34" charset="0"/>
                <a:ea typeface="Calibri" panose="020F0502020204030204" pitchFamily="34" charset="-122"/>
                <a:cs typeface="Calibri" panose="020F0502020204030204" pitchFamily="34" charset="-120"/>
              </a:rPr>
              <a:t>By digitizing the grading process, teachers can upload grades faster and more accurately, while parents gain real-time visibility into their child's academic progress through a secure, accessible web portal.</a:t>
            </a:r>
            <a:endParaRPr lang="en-US" sz="1250" dirty="0"/>
          </a:p>
        </p:txBody>
      </p:sp>
      <p:sp>
        <p:nvSpPr>
          <p:cNvPr id="12" name="Shape 10"/>
          <p:cNvSpPr/>
          <p:nvPr/>
        </p:nvSpPr>
        <p:spPr>
          <a:xfrm>
            <a:off x="411480" y="3054096"/>
            <a:ext cx="347472" cy="347472"/>
          </a:xfrm>
          <a:prstGeom prst="rect">
            <a:avLst/>
          </a:prstGeom>
          <a:solidFill>
            <a:srgbClr val="C9A84C"/>
          </a:solidFill>
          <a:ln w="12700">
            <a:solidFill>
              <a:srgbClr val="C9A84C"/>
            </a:solidFill>
            <a:prstDash val="solid"/>
          </a:ln>
        </p:spPr>
      </p:sp>
      <p:sp>
        <p:nvSpPr>
          <p:cNvPr id="13" name="Text 11"/>
          <p:cNvSpPr/>
          <p:nvPr/>
        </p:nvSpPr>
        <p:spPr>
          <a:xfrm>
            <a:off x="411480" y="3072384"/>
            <a:ext cx="347472" cy="310896"/>
          </a:xfrm>
          <a:prstGeom prst="rect">
            <a:avLst/>
          </a:prstGeom>
          <a:noFill/>
        </p:spPr>
        <p:txBody>
          <a:bodyPr wrap="square" rtlCol="0" anchor="ctr"/>
          <a:lstStyle/>
          <a:p>
            <a:pPr marL="0" indent="0" algn="ctr">
              <a:buNone/>
            </a:pPr>
            <a:r>
              <a:rPr lang="en-US" sz="1400" b="1" dirty="0">
                <a:solidFill>
                  <a:srgbClr val="3B0009"/>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4" name="Text 12"/>
          <p:cNvSpPr/>
          <p:nvPr/>
        </p:nvSpPr>
        <p:spPr>
          <a:xfrm>
            <a:off x="914400" y="3026664"/>
            <a:ext cx="7863840" cy="749808"/>
          </a:xfrm>
          <a:prstGeom prst="rect">
            <a:avLst/>
          </a:prstGeom>
          <a:noFill/>
        </p:spPr>
        <p:txBody>
          <a:bodyPr wrap="square" rtlCol="0" anchor="ctr"/>
          <a:lstStyle/>
          <a:p>
            <a:pPr marL="0" indent="0">
              <a:buNone/>
            </a:pPr>
            <a:r>
              <a:rPr lang="en-US" sz="1250" dirty="0">
                <a:solidFill>
                  <a:srgbClr val="F2D9DB"/>
                </a:solidFill>
                <a:latin typeface="Calibri" panose="020F0502020204030204" pitchFamily="34" charset="0"/>
                <a:ea typeface="Calibri" panose="020F0502020204030204" pitchFamily="34" charset="-122"/>
                <a:cs typeface="Calibri" panose="020F0502020204030204" pitchFamily="34" charset="-120"/>
              </a:rPr>
              <a:t>The system was built using industry-standard technologies (Node.js, Express.js, MySQL) and follows a structured 3-layer architecture, ensuring reliability, security, and scalability.</a:t>
            </a:r>
            <a:endParaRPr lang="en-US" sz="1250" dirty="0"/>
          </a:p>
        </p:txBody>
      </p:sp>
      <p:sp>
        <p:nvSpPr>
          <p:cNvPr id="15" name="Shape 13"/>
          <p:cNvSpPr/>
          <p:nvPr/>
        </p:nvSpPr>
        <p:spPr>
          <a:xfrm>
            <a:off x="411480" y="3950208"/>
            <a:ext cx="347472" cy="347472"/>
          </a:xfrm>
          <a:prstGeom prst="rect">
            <a:avLst/>
          </a:prstGeom>
          <a:solidFill>
            <a:srgbClr val="C9A84C"/>
          </a:solidFill>
          <a:ln w="12700">
            <a:solidFill>
              <a:srgbClr val="C9A84C"/>
            </a:solidFill>
            <a:prstDash val="solid"/>
          </a:ln>
        </p:spPr>
      </p:sp>
      <p:sp>
        <p:nvSpPr>
          <p:cNvPr id="16" name="Text 14"/>
          <p:cNvSpPr/>
          <p:nvPr/>
        </p:nvSpPr>
        <p:spPr>
          <a:xfrm>
            <a:off x="411480" y="3968496"/>
            <a:ext cx="347472" cy="310896"/>
          </a:xfrm>
          <a:prstGeom prst="rect">
            <a:avLst/>
          </a:prstGeom>
          <a:noFill/>
        </p:spPr>
        <p:txBody>
          <a:bodyPr wrap="square" rtlCol="0" anchor="ctr"/>
          <a:lstStyle/>
          <a:p>
            <a:pPr marL="0" indent="0" algn="ctr">
              <a:buNone/>
            </a:pPr>
            <a:r>
              <a:rPr lang="en-US" sz="1400" b="1" dirty="0">
                <a:solidFill>
                  <a:srgbClr val="3B0009"/>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17" name="Text 15"/>
          <p:cNvSpPr/>
          <p:nvPr/>
        </p:nvSpPr>
        <p:spPr>
          <a:xfrm>
            <a:off x="914400" y="3922776"/>
            <a:ext cx="7863840" cy="749808"/>
          </a:xfrm>
          <a:prstGeom prst="rect">
            <a:avLst/>
          </a:prstGeom>
          <a:noFill/>
        </p:spPr>
        <p:txBody>
          <a:bodyPr wrap="square" rtlCol="0" anchor="ctr"/>
          <a:lstStyle/>
          <a:p>
            <a:pPr marL="0" indent="0">
              <a:buNone/>
            </a:pPr>
            <a:r>
              <a:rPr lang="en-US" sz="1250" dirty="0">
                <a:solidFill>
                  <a:srgbClr val="F2D9DB"/>
                </a:solidFill>
                <a:latin typeface="Calibri" panose="020F0502020204030204" pitchFamily="34" charset="0"/>
                <a:ea typeface="Calibri" panose="020F0502020204030204" pitchFamily="34" charset="-122"/>
                <a:cs typeface="Calibri" panose="020F0502020204030204" pitchFamily="34" charset="-120"/>
              </a:rPr>
              <a:t>All tested modules passed both functionality and compatibility tests — confirming the system is ready for deployment and practical use in the school environment.</a:t>
            </a:r>
            <a:endParaRPr lang="en-US" sz="1250" dirty="0"/>
          </a:p>
        </p:txBody>
      </p:sp>
      <p:sp>
        <p:nvSpPr>
          <p:cNvPr id="18" name="Text 16"/>
          <p:cNvSpPr/>
          <p:nvPr/>
        </p:nvSpPr>
        <p:spPr>
          <a:xfrm>
            <a:off x="457200" y="4846320"/>
            <a:ext cx="8229600" cy="201168"/>
          </a:xfrm>
          <a:prstGeom prst="rect">
            <a:avLst/>
          </a:prstGeom>
          <a:noFill/>
        </p:spPr>
        <p:txBody>
          <a:bodyPr wrap="square" rtlCol="0" anchor="ctr"/>
          <a:lstStyle/>
          <a:p>
            <a:pPr marL="0" indent="0" algn="ctr">
              <a:buNone/>
            </a:pPr>
            <a:r>
              <a:rPr lang="en-US" sz="1000" dirty="0">
                <a:solidFill>
                  <a:srgbClr val="A87070"/>
                </a:solidFill>
                <a:latin typeface="Calibri" panose="020F0502020204030204" pitchFamily="34" charset="0"/>
                <a:ea typeface="Calibri" panose="020F0502020204030204" pitchFamily="34" charset="-122"/>
                <a:cs typeface="Calibri" panose="020F0502020204030204" pitchFamily="34" charset="-120"/>
              </a:rPr>
              <a:t>Philippine College of Technology  |  Diploma in Information Technology  |  S.Y.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13567</Words>
  <Application>WPS Presentation</Application>
  <PresentationFormat>On-screen Show (16:9)</PresentationFormat>
  <Paragraphs>501</Paragraphs>
  <Slides>18</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Grading Platform – Bunawan Aplaya Elementary School (Full)</dc:title>
  <dc:creator>PptxGenJS</dc:creator>
  <dc:subject>PptxGenJS Presentation</dc:subject>
  <cp:lastModifiedBy>Dave915</cp:lastModifiedBy>
  <cp:revision>2</cp:revision>
  <dcterms:created xsi:type="dcterms:W3CDTF">2026-06-01T09:30:00Z</dcterms:created>
  <dcterms:modified xsi:type="dcterms:W3CDTF">2026-06-01T11:10:17Z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4ECE31D4F7F0486A9F0BFF65D48C5E34_12</vt:lpwstr>
  </property>
</Properties>
</file>